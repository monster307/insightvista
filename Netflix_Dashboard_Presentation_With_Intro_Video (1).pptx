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mp4" ContentType="video/mp4"/>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80" d="100"/>
          <a:sy n="80" d="100"/>
        </p:scale>
        <p:origin x="754" y="23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4479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the slideshow and click the embedded Netflix intro video to play it. Depending on the PowerPoint version and playback settings, automatic playback may need to be enabled manually. Replace all team placeholders before presenting. Then introduce the workflow: raw data, cleaning, dashboard, insights.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contains 8,807 records and 12 columns. Missing values are concentrated in director, cast and country. There are no exact duplicate rows in the original file. Multi-value fields such as country and genre require careful interpretation.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Explain each cleaning rule and why the raw file should be preserved. The three suspicious rating/duration records are flagged for review rather than automatically modified. Avoid claiming an operation was completed unless you ran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describes the intended analysis-ready structure. Complete the validation checklist after running the cleaning pipeline. Do not report post-cleaning numbers until they have been calculated from the cleaned file.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dashboard slide is an illustrative layout built from verified dataset counts. If you already have a dashboard, replace this mockup with a screenshot of your actual dashboard and retain only visuals that exist in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observations: Movies are 69.6% of records; 2018 has the highest count by release year; United States and India lead the split country labels; International Movies and Dramas are frequent genres; TV-MA and TV-14 lead ratings. Country and genre counts overlap.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Recommend metadata quality tracking, portfolio comparisons, catalogue-addition monitoring, and linking metadata to viewing/business outcomes. This dataset alone does not contain watch time, revenue, subscriber or retention metrics. End with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0C0C"/>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72423" y="235343"/>
            <a:ext cx="4572000" cy="190821"/>
          </a:xfrm>
          <a:prstGeom prst="rect">
            <a:avLst/>
          </a:prstGeom>
          <a:noFill/>
        </p:spPr>
        <p:txBody>
          <a:bodyPr wrap="square" lIns="36576" tIns="18288" rIns="36576" bIns="18288" anchor="t">
            <a:spAutoFit/>
          </a:bodyPr>
          <a:lstStyle/>
          <a:p>
            <a:pPr algn="ctr">
              <a:spcAft>
                <a:spcPts val="0"/>
              </a:spcAft>
            </a:pPr>
            <a:r>
              <a:rPr sz="1000" b="1" dirty="0">
                <a:solidFill>
                  <a:srgbClr val="E50914"/>
                </a:solidFill>
                <a:latin typeface="Aptos"/>
              </a:rPr>
              <a:t>DATA ANALYTICS PROJECT</a:t>
            </a:r>
          </a:p>
        </p:txBody>
      </p:sp>
      <p:sp>
        <p:nvSpPr>
          <p:cNvPr id="4" name="TextBox 3"/>
          <p:cNvSpPr txBox="1"/>
          <p:nvPr/>
        </p:nvSpPr>
        <p:spPr>
          <a:xfrm>
            <a:off x="322138" y="551523"/>
            <a:ext cx="4206240" cy="658368"/>
          </a:xfrm>
          <a:prstGeom prst="rect">
            <a:avLst/>
          </a:prstGeom>
          <a:noFill/>
        </p:spPr>
        <p:txBody>
          <a:bodyPr wrap="square" lIns="36576" tIns="18288" rIns="36576" bIns="18288" anchor="t">
            <a:spAutoFit/>
          </a:bodyPr>
          <a:lstStyle/>
          <a:p>
            <a:pPr>
              <a:spcAft>
                <a:spcPts val="0"/>
              </a:spcAft>
            </a:pPr>
            <a:r>
              <a:rPr sz="3600" b="1" dirty="0">
                <a:solidFill>
                  <a:srgbClr val="F6F6F6"/>
                </a:solidFill>
                <a:latin typeface="Aptos"/>
              </a:rPr>
              <a:t>NETFLIX</a:t>
            </a:r>
          </a:p>
        </p:txBody>
      </p:sp>
      <p:sp>
        <p:nvSpPr>
          <p:cNvPr id="5" name="TextBox 4"/>
          <p:cNvSpPr txBox="1"/>
          <p:nvPr/>
        </p:nvSpPr>
        <p:spPr>
          <a:xfrm>
            <a:off x="347472" y="1234257"/>
            <a:ext cx="5669280" cy="621792"/>
          </a:xfrm>
          <a:prstGeom prst="rect">
            <a:avLst/>
          </a:prstGeom>
          <a:noFill/>
        </p:spPr>
        <p:txBody>
          <a:bodyPr wrap="square" lIns="36576" tIns="18288" rIns="36576" bIns="18288" anchor="t">
            <a:spAutoFit/>
          </a:bodyPr>
          <a:lstStyle/>
          <a:p>
            <a:pPr>
              <a:spcAft>
                <a:spcPts val="0"/>
              </a:spcAft>
            </a:pPr>
            <a:r>
              <a:rPr sz="1800" b="1" dirty="0">
                <a:solidFill>
                  <a:srgbClr val="F6F6F6"/>
                </a:solidFill>
                <a:latin typeface="Aptos"/>
              </a:rPr>
              <a:t>DATA ANALYSIS &amp; INTERACTIVE DASHBOARD</a:t>
            </a:r>
          </a:p>
        </p:txBody>
      </p:sp>
      <p:sp>
        <p:nvSpPr>
          <p:cNvPr id="6" name="TextBox 5"/>
          <p:cNvSpPr txBox="1"/>
          <p:nvPr/>
        </p:nvSpPr>
        <p:spPr>
          <a:xfrm>
            <a:off x="253159" y="1984248"/>
            <a:ext cx="5577840" cy="310896"/>
          </a:xfrm>
          <a:prstGeom prst="rect">
            <a:avLst/>
          </a:prstGeom>
          <a:noFill/>
        </p:spPr>
        <p:txBody>
          <a:bodyPr wrap="square" lIns="36576" tIns="18288" rIns="36576" bIns="18288" anchor="t">
            <a:spAutoFit/>
          </a:bodyPr>
          <a:lstStyle/>
          <a:p>
            <a:pPr>
              <a:spcAft>
                <a:spcPts val="0"/>
              </a:spcAft>
            </a:pPr>
            <a:r>
              <a:rPr sz="1200" b="0" dirty="0">
                <a:solidFill>
                  <a:srgbClr val="B4B4B4"/>
                </a:solidFill>
                <a:latin typeface="Aptos"/>
              </a:rPr>
              <a:t>A data-driven view of Netflix's content catalogue</a:t>
            </a:r>
          </a:p>
        </p:txBody>
      </p:sp>
      <p:sp>
        <p:nvSpPr>
          <p:cNvPr id="7" name="Rounded Rectangle 6"/>
          <p:cNvSpPr/>
          <p:nvPr/>
        </p:nvSpPr>
        <p:spPr>
          <a:xfrm>
            <a:off x="621792" y="2487168"/>
            <a:ext cx="6556248" cy="2761488"/>
          </a:xfrm>
          <a:prstGeom prst="roundRect">
            <a:avLst>
              <a:gd name="adj" fmla="val 12000"/>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vidssave.com Netflix Intro (1080p) (Download) 1080p.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22138" y="2463342"/>
            <a:ext cx="6993062" cy="3372085"/>
          </a:xfrm>
          <a:prstGeom prst="rect">
            <a:avLst/>
          </a:prstGeom>
        </p:spPr>
      </p:pic>
      <p:sp>
        <p:nvSpPr>
          <p:cNvPr id="10" name="Rounded Rectangle 9"/>
          <p:cNvSpPr/>
          <p:nvPr/>
        </p:nvSpPr>
        <p:spPr>
          <a:xfrm>
            <a:off x="7543800" y="658368"/>
            <a:ext cx="3977639" cy="5029200"/>
          </a:xfrm>
          <a:prstGeom prst="roundRect">
            <a:avLst>
              <a:gd name="adj" fmla="val 12000"/>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82127" y="932688"/>
            <a:ext cx="3246120" cy="274320"/>
          </a:xfrm>
          <a:prstGeom prst="rect">
            <a:avLst/>
          </a:prstGeom>
          <a:noFill/>
        </p:spPr>
        <p:txBody>
          <a:bodyPr wrap="square" lIns="36576" tIns="18288" rIns="36576" bIns="18288" anchor="t">
            <a:spAutoFit/>
          </a:bodyPr>
          <a:lstStyle/>
          <a:p>
            <a:pPr>
              <a:spcAft>
                <a:spcPts val="0"/>
              </a:spcAft>
            </a:pPr>
            <a:r>
              <a:rPr sz="1100" b="1">
                <a:solidFill>
                  <a:srgbClr val="E50914"/>
                </a:solidFill>
                <a:latin typeface="Aptos"/>
              </a:rPr>
              <a:t>PROJECT TEAM</a:t>
            </a:r>
          </a:p>
        </p:txBody>
      </p:sp>
      <p:sp>
        <p:nvSpPr>
          <p:cNvPr id="12" name="TextBox 11"/>
          <p:cNvSpPr txBox="1"/>
          <p:nvPr/>
        </p:nvSpPr>
        <p:spPr>
          <a:xfrm>
            <a:off x="7882126" y="1565675"/>
            <a:ext cx="2980945" cy="206210"/>
          </a:xfrm>
          <a:prstGeom prst="rect">
            <a:avLst/>
          </a:prstGeom>
          <a:noFill/>
        </p:spPr>
        <p:txBody>
          <a:bodyPr wrap="square" lIns="36576" tIns="18288" rIns="36576" bIns="18288" anchor="t">
            <a:spAutoFit/>
          </a:bodyPr>
          <a:lstStyle/>
          <a:p>
            <a:pPr algn="just">
              <a:spcAft>
                <a:spcPts val="0"/>
              </a:spcAft>
            </a:pPr>
            <a:r>
              <a:rPr sz="1100" b="0" dirty="0">
                <a:solidFill>
                  <a:srgbClr val="F6F6F6"/>
                </a:solidFill>
                <a:latin typeface="Aptos"/>
              </a:rPr>
              <a:t>Team member </a:t>
            </a:r>
            <a:r>
              <a:rPr sz="1100" b="0" dirty="0" smtClean="0">
                <a:solidFill>
                  <a:srgbClr val="F6F6F6"/>
                </a:solidFill>
                <a:latin typeface="Aptos"/>
              </a:rPr>
              <a:t>1</a:t>
            </a:r>
            <a:r>
              <a:rPr lang="en-IN" sz="1100" b="0" dirty="0" smtClean="0">
                <a:solidFill>
                  <a:srgbClr val="F6F6F6"/>
                </a:solidFill>
                <a:latin typeface="Aptos"/>
              </a:rPr>
              <a:t> </a:t>
            </a:r>
            <a:r>
              <a:rPr sz="1100" b="0" dirty="0" smtClean="0">
                <a:solidFill>
                  <a:srgbClr val="F6F6F6"/>
                </a:solidFill>
                <a:latin typeface="Aptos"/>
              </a:rPr>
              <a:t>:</a:t>
            </a:r>
            <a:r>
              <a:rPr lang="en-IN" sz="1100" b="0" dirty="0" smtClean="0">
                <a:solidFill>
                  <a:srgbClr val="F6F6F6"/>
                </a:solidFill>
                <a:latin typeface="Aptos"/>
              </a:rPr>
              <a:t> </a:t>
            </a:r>
            <a:r>
              <a:rPr lang="en-IN" sz="1100" b="0" u="sng" dirty="0" smtClean="0">
                <a:solidFill>
                  <a:srgbClr val="F6F6F6"/>
                </a:solidFill>
                <a:latin typeface="Aptos"/>
              </a:rPr>
              <a:t>Dev Pancha</a:t>
            </a:r>
            <a:r>
              <a:rPr lang="en-IN" sz="1100" b="0" dirty="0" smtClean="0">
                <a:solidFill>
                  <a:srgbClr val="F6F6F6"/>
                </a:solidFill>
                <a:latin typeface="Aptos"/>
              </a:rPr>
              <a:t>l </a:t>
            </a:r>
            <a:endParaRPr sz="1100" b="0" dirty="0">
              <a:solidFill>
                <a:srgbClr val="F6F6F6"/>
              </a:solidFill>
              <a:latin typeface="Aptos"/>
            </a:endParaRPr>
          </a:p>
        </p:txBody>
      </p:sp>
      <p:sp>
        <p:nvSpPr>
          <p:cNvPr id="13" name="TextBox 12"/>
          <p:cNvSpPr txBox="1"/>
          <p:nvPr/>
        </p:nvSpPr>
        <p:spPr>
          <a:xfrm>
            <a:off x="7882127" y="1856049"/>
            <a:ext cx="2980945" cy="206210"/>
          </a:xfrm>
          <a:prstGeom prst="rect">
            <a:avLst/>
          </a:prstGeom>
          <a:noFill/>
        </p:spPr>
        <p:txBody>
          <a:bodyPr wrap="square" lIns="36576" tIns="18288" rIns="36576" bIns="18288" anchor="t">
            <a:spAutoFit/>
          </a:bodyPr>
          <a:lstStyle/>
          <a:p>
            <a:pPr>
              <a:spcAft>
                <a:spcPts val="0"/>
              </a:spcAft>
            </a:pPr>
            <a:r>
              <a:rPr sz="1100" b="0" dirty="0">
                <a:solidFill>
                  <a:srgbClr val="F6F6F6"/>
                </a:solidFill>
                <a:latin typeface="Aptos"/>
              </a:rPr>
              <a:t>Team member </a:t>
            </a:r>
            <a:r>
              <a:rPr lang="en-IN" sz="1100" dirty="0">
                <a:solidFill>
                  <a:srgbClr val="F6F6F6"/>
                </a:solidFill>
                <a:latin typeface="Aptos"/>
              </a:rPr>
              <a:t>2</a:t>
            </a:r>
            <a:r>
              <a:rPr lang="en-IN" sz="1100" b="0" dirty="0" smtClean="0">
                <a:solidFill>
                  <a:srgbClr val="F6F6F6"/>
                </a:solidFill>
                <a:latin typeface="Aptos"/>
              </a:rPr>
              <a:t> </a:t>
            </a:r>
            <a:r>
              <a:rPr sz="1100" b="0" dirty="0" smtClean="0">
                <a:solidFill>
                  <a:srgbClr val="F6F6F6"/>
                </a:solidFill>
                <a:latin typeface="Aptos"/>
              </a:rPr>
              <a:t>:</a:t>
            </a:r>
            <a:r>
              <a:rPr lang="en-IN" sz="1100" b="0" dirty="0" smtClean="0">
                <a:solidFill>
                  <a:srgbClr val="F6F6F6"/>
                </a:solidFill>
                <a:latin typeface="Aptos"/>
              </a:rPr>
              <a:t> </a:t>
            </a:r>
            <a:r>
              <a:rPr lang="en-IN" sz="1100" b="0" u="sng" dirty="0" err="1" smtClean="0">
                <a:solidFill>
                  <a:srgbClr val="F6F6F6"/>
                </a:solidFill>
                <a:latin typeface="Aptos"/>
              </a:rPr>
              <a:t>Jeel</a:t>
            </a:r>
            <a:r>
              <a:rPr lang="en-IN" sz="1100" b="0" u="sng" dirty="0" smtClean="0">
                <a:solidFill>
                  <a:srgbClr val="F6F6F6"/>
                </a:solidFill>
                <a:latin typeface="Aptos"/>
              </a:rPr>
              <a:t> Mistry</a:t>
            </a:r>
            <a:endParaRPr sz="1100" b="0" u="sng" dirty="0">
              <a:solidFill>
                <a:srgbClr val="F6F6F6"/>
              </a:solidFill>
              <a:latin typeface="Aptos"/>
            </a:endParaRPr>
          </a:p>
        </p:txBody>
      </p:sp>
      <p:sp>
        <p:nvSpPr>
          <p:cNvPr id="14" name="TextBox 13"/>
          <p:cNvSpPr txBox="1"/>
          <p:nvPr/>
        </p:nvSpPr>
        <p:spPr>
          <a:xfrm>
            <a:off x="7882127" y="2123746"/>
            <a:ext cx="3154680" cy="206210"/>
          </a:xfrm>
          <a:prstGeom prst="rect">
            <a:avLst/>
          </a:prstGeom>
          <a:noFill/>
        </p:spPr>
        <p:txBody>
          <a:bodyPr wrap="square" lIns="36576" tIns="18288" rIns="36576" bIns="18288" anchor="t">
            <a:spAutoFit/>
          </a:bodyPr>
          <a:lstStyle/>
          <a:p>
            <a:pPr>
              <a:spcAft>
                <a:spcPts val="0"/>
              </a:spcAft>
            </a:pPr>
            <a:r>
              <a:rPr lang="en-IN" sz="1100" dirty="0">
                <a:solidFill>
                  <a:srgbClr val="F6F6F6"/>
                </a:solidFill>
                <a:latin typeface="Aptos"/>
              </a:rPr>
              <a:t>Team member </a:t>
            </a:r>
            <a:r>
              <a:rPr lang="en-IN" sz="1100" dirty="0" smtClean="0">
                <a:solidFill>
                  <a:srgbClr val="F6F6F6"/>
                </a:solidFill>
                <a:latin typeface="Aptos"/>
              </a:rPr>
              <a:t>3</a:t>
            </a:r>
            <a:r>
              <a:rPr lang="en-IN" sz="1100" dirty="0">
                <a:solidFill>
                  <a:srgbClr val="F6F6F6"/>
                </a:solidFill>
                <a:latin typeface="Aptos"/>
              </a:rPr>
              <a:t> </a:t>
            </a:r>
            <a:r>
              <a:rPr lang="en-IN" sz="1100" dirty="0" smtClean="0">
                <a:solidFill>
                  <a:srgbClr val="F6F6F6"/>
                </a:solidFill>
                <a:latin typeface="Aptos"/>
              </a:rPr>
              <a:t>: </a:t>
            </a:r>
            <a:r>
              <a:rPr lang="en-IN" sz="1100" u="sng" dirty="0" smtClean="0">
                <a:solidFill>
                  <a:srgbClr val="F6F6F6"/>
                </a:solidFill>
                <a:latin typeface="Aptos"/>
              </a:rPr>
              <a:t>Neel </a:t>
            </a:r>
            <a:r>
              <a:rPr lang="en-IN" sz="1100" u="sng" dirty="0" err="1" smtClean="0">
                <a:solidFill>
                  <a:srgbClr val="F6F6F6"/>
                </a:solidFill>
                <a:latin typeface="Aptos"/>
              </a:rPr>
              <a:t>Langaliya</a:t>
            </a:r>
            <a:r>
              <a:rPr lang="en-IN" sz="1100" u="sng" dirty="0" smtClean="0">
                <a:solidFill>
                  <a:srgbClr val="F6F6F6"/>
                </a:solidFill>
                <a:latin typeface="Aptos"/>
              </a:rPr>
              <a:t> </a:t>
            </a:r>
            <a:endParaRPr lang="en-IN" sz="1100" u="sng" dirty="0">
              <a:solidFill>
                <a:srgbClr val="F6F6F6"/>
              </a:solidFill>
              <a:latin typeface="Aptos"/>
            </a:endParaRPr>
          </a:p>
        </p:txBody>
      </p:sp>
      <p:sp>
        <p:nvSpPr>
          <p:cNvPr id="15" name="Rectangle 14"/>
          <p:cNvSpPr/>
          <p:nvPr/>
        </p:nvSpPr>
        <p:spPr>
          <a:xfrm>
            <a:off x="7882127" y="3182112"/>
            <a:ext cx="3154680" cy="16459"/>
          </a:xfrm>
          <a:prstGeom prst="rect">
            <a:avLst/>
          </a:prstGeom>
          <a:solidFill>
            <a:srgbClr val="46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82127" y="3456432"/>
            <a:ext cx="3246120" cy="190821"/>
          </a:xfrm>
          <a:prstGeom prst="rect">
            <a:avLst/>
          </a:prstGeom>
          <a:noFill/>
        </p:spPr>
        <p:txBody>
          <a:bodyPr wrap="square" lIns="36576" tIns="18288" rIns="36576" bIns="18288" anchor="t">
            <a:spAutoFit/>
          </a:bodyPr>
          <a:lstStyle/>
          <a:p>
            <a:pPr>
              <a:spcAft>
                <a:spcPts val="0"/>
              </a:spcAft>
            </a:pPr>
            <a:r>
              <a:rPr sz="1000" b="0" dirty="0">
                <a:solidFill>
                  <a:srgbClr val="B4B4B4"/>
                </a:solidFill>
                <a:latin typeface="Aptos"/>
              </a:rPr>
              <a:t>Sub-code </a:t>
            </a:r>
            <a:r>
              <a:rPr lang="en-IN" sz="1000" dirty="0" smtClean="0">
                <a:solidFill>
                  <a:srgbClr val="B4B4B4"/>
                </a:solidFill>
                <a:latin typeface="Aptos"/>
              </a:rPr>
              <a:t> : </a:t>
            </a:r>
            <a:r>
              <a:rPr lang="en-IN" sz="1000" u="sng" dirty="0" smtClean="0">
                <a:solidFill>
                  <a:srgbClr val="B4B4B4"/>
                </a:solidFill>
                <a:latin typeface="Aptos"/>
              </a:rPr>
              <a:t>1IT502</a:t>
            </a:r>
            <a:endParaRPr sz="1000" b="0" u="sng" dirty="0">
              <a:solidFill>
                <a:srgbClr val="B4B4B4"/>
              </a:solidFill>
              <a:latin typeface="Aptos"/>
            </a:endParaRPr>
          </a:p>
        </p:txBody>
      </p:sp>
      <p:sp>
        <p:nvSpPr>
          <p:cNvPr id="17" name="TextBox 16"/>
          <p:cNvSpPr txBox="1"/>
          <p:nvPr/>
        </p:nvSpPr>
        <p:spPr>
          <a:xfrm>
            <a:off x="7882127" y="3968496"/>
            <a:ext cx="3246120" cy="190821"/>
          </a:xfrm>
          <a:prstGeom prst="rect">
            <a:avLst/>
          </a:prstGeom>
          <a:noFill/>
        </p:spPr>
        <p:txBody>
          <a:bodyPr wrap="square" lIns="36576" tIns="18288" rIns="36576" bIns="18288" anchor="t">
            <a:spAutoFit/>
          </a:bodyPr>
          <a:lstStyle/>
          <a:p>
            <a:pPr>
              <a:spcAft>
                <a:spcPts val="0"/>
              </a:spcAft>
            </a:pPr>
            <a:r>
              <a:rPr sz="1000" b="0" dirty="0" err="1" smtClean="0">
                <a:solidFill>
                  <a:srgbClr val="B4B4B4"/>
                </a:solidFill>
                <a:latin typeface="Aptos"/>
              </a:rPr>
              <a:t>Grou</a:t>
            </a:r>
            <a:r>
              <a:rPr lang="en-IN" sz="1000" b="0" dirty="0" smtClean="0">
                <a:solidFill>
                  <a:srgbClr val="B4B4B4"/>
                </a:solidFill>
                <a:latin typeface="Aptos"/>
              </a:rPr>
              <a:t>p : Team analyst</a:t>
            </a:r>
            <a:endParaRPr sz="1000" b="0" dirty="0">
              <a:solidFill>
                <a:srgbClr val="B4B4B4"/>
              </a:solidFill>
              <a:latin typeface="Aptos"/>
            </a:endParaRPr>
          </a:p>
        </p:txBody>
      </p:sp>
      <p:sp>
        <p:nvSpPr>
          <p:cNvPr id="18" name="TextBox 17"/>
          <p:cNvSpPr txBox="1"/>
          <p:nvPr/>
        </p:nvSpPr>
        <p:spPr>
          <a:xfrm>
            <a:off x="7882127" y="4480560"/>
            <a:ext cx="3246120" cy="190821"/>
          </a:xfrm>
          <a:prstGeom prst="rect">
            <a:avLst/>
          </a:prstGeom>
          <a:noFill/>
        </p:spPr>
        <p:txBody>
          <a:bodyPr wrap="square" lIns="36576" tIns="18288" rIns="36576" bIns="18288" anchor="t">
            <a:spAutoFit/>
          </a:bodyPr>
          <a:lstStyle/>
          <a:p>
            <a:pPr>
              <a:spcAft>
                <a:spcPts val="0"/>
              </a:spcAft>
            </a:pPr>
            <a:r>
              <a:rPr sz="1000" b="0" dirty="0">
                <a:solidFill>
                  <a:srgbClr val="B4B4B4"/>
                </a:solidFill>
                <a:latin typeface="Aptos"/>
              </a:rPr>
              <a:t>Subject / </a:t>
            </a:r>
            <a:r>
              <a:rPr sz="1000" b="0" dirty="0" smtClean="0">
                <a:solidFill>
                  <a:srgbClr val="B4B4B4"/>
                </a:solidFill>
                <a:latin typeface="Aptos"/>
              </a:rPr>
              <a:t>Faculty</a:t>
            </a:r>
            <a:r>
              <a:rPr lang="en-IN" sz="1000" dirty="0">
                <a:solidFill>
                  <a:srgbClr val="B4B4B4"/>
                </a:solidFill>
                <a:latin typeface="Aptos"/>
              </a:rPr>
              <a:t> </a:t>
            </a:r>
            <a:r>
              <a:rPr lang="en-IN" sz="1000" dirty="0" smtClean="0">
                <a:solidFill>
                  <a:srgbClr val="B4B4B4"/>
                </a:solidFill>
                <a:latin typeface="Aptos"/>
              </a:rPr>
              <a:t>: </a:t>
            </a:r>
            <a:r>
              <a:rPr lang="en-IN" sz="1000" dirty="0" err="1" smtClean="0">
                <a:solidFill>
                  <a:srgbClr val="B4B4B4"/>
                </a:solidFill>
                <a:latin typeface="Aptos"/>
              </a:rPr>
              <a:t>Krina</a:t>
            </a:r>
            <a:r>
              <a:rPr lang="en-IN" sz="1000" dirty="0" smtClean="0">
                <a:solidFill>
                  <a:srgbClr val="B4B4B4"/>
                </a:solidFill>
                <a:latin typeface="Aptos"/>
              </a:rPr>
              <a:t> Mam / </a:t>
            </a:r>
            <a:r>
              <a:rPr lang="en-IN" sz="1000" dirty="0" err="1" smtClean="0">
                <a:solidFill>
                  <a:srgbClr val="B4B4B4"/>
                </a:solidFill>
                <a:latin typeface="Aptos"/>
              </a:rPr>
              <a:t>Niyati</a:t>
            </a:r>
            <a:r>
              <a:rPr lang="en-IN" sz="1000" dirty="0" smtClean="0">
                <a:solidFill>
                  <a:srgbClr val="B4B4B4"/>
                </a:solidFill>
                <a:latin typeface="Aptos"/>
              </a:rPr>
              <a:t> Mam</a:t>
            </a:r>
            <a:endParaRPr sz="1000" b="0" dirty="0">
              <a:solidFill>
                <a:srgbClr val="B4B4B4"/>
              </a:solidFill>
              <a:latin typeface="Aptos"/>
            </a:endParaRPr>
          </a:p>
        </p:txBody>
      </p:sp>
      <p:sp>
        <p:nvSpPr>
          <p:cNvPr id="19" name="TextBox 18"/>
          <p:cNvSpPr txBox="1"/>
          <p:nvPr/>
        </p:nvSpPr>
        <p:spPr>
          <a:xfrm>
            <a:off x="621792" y="5897880"/>
            <a:ext cx="10789920" cy="274320"/>
          </a:xfrm>
          <a:prstGeom prst="rect">
            <a:avLst/>
          </a:prstGeom>
          <a:noFill/>
        </p:spPr>
        <p:txBody>
          <a:bodyPr wrap="square" lIns="36576" tIns="18288" rIns="36576" bIns="18288" anchor="t">
            <a:spAutoFit/>
          </a:bodyPr>
          <a:lstStyle/>
          <a:p>
            <a:pPr algn="ctr">
              <a:spcAft>
                <a:spcPts val="0"/>
              </a:spcAft>
            </a:pPr>
            <a:r>
              <a:rPr sz="1100" b="1">
                <a:solidFill>
                  <a:srgbClr val="F6F6F6"/>
                </a:solidFill>
                <a:latin typeface="Aptos"/>
              </a:rPr>
              <a:t>RAW DATA  ›  CLEANING  ›  DASHBOARD  ›  INSIGHTS</a:t>
            </a:r>
          </a:p>
        </p:txBody>
      </p:sp>
      <p:sp>
        <p:nvSpPr>
          <p:cNvPr id="20" name="TextBox 19"/>
          <p:cNvSpPr txBox="1"/>
          <p:nvPr/>
        </p:nvSpPr>
        <p:spPr>
          <a:xfrm>
            <a:off x="10863072" y="6519672"/>
            <a:ext cx="749808" cy="182880"/>
          </a:xfrm>
          <a:prstGeom prst="rect">
            <a:avLst/>
          </a:prstGeom>
          <a:noFill/>
        </p:spPr>
        <p:txBody>
          <a:bodyPr wrap="square" lIns="36576" tIns="18288" rIns="36576" bIns="18288" anchor="t">
            <a:spAutoFit/>
          </a:bodyPr>
          <a:lstStyle/>
          <a:p>
            <a:pPr algn="r">
              <a:spcAft>
                <a:spcPts val="0"/>
              </a:spcAft>
            </a:pPr>
            <a:r>
              <a:rPr sz="800" b="1">
                <a:solidFill>
                  <a:srgbClr val="B4B4B4"/>
                </a:solidFill>
                <a:latin typeface="Aptos"/>
              </a:rPr>
              <a:t>01 / 07</a:t>
            </a:r>
          </a:p>
        </p:txBody>
      </p:sp>
      <p:sp>
        <p:nvSpPr>
          <p:cNvPr id="21" name="TextBox 20"/>
          <p:cNvSpPr txBox="1"/>
          <p:nvPr/>
        </p:nvSpPr>
        <p:spPr>
          <a:xfrm>
            <a:off x="7882126" y="2382299"/>
            <a:ext cx="3154680" cy="206210"/>
          </a:xfrm>
          <a:prstGeom prst="rect">
            <a:avLst/>
          </a:prstGeom>
          <a:noFill/>
        </p:spPr>
        <p:txBody>
          <a:bodyPr wrap="square" lIns="36576" tIns="18288" rIns="36576" bIns="18288" anchor="t">
            <a:spAutoFit/>
          </a:bodyPr>
          <a:lstStyle/>
          <a:p>
            <a:pPr>
              <a:spcAft>
                <a:spcPts val="0"/>
              </a:spcAft>
            </a:pPr>
            <a:r>
              <a:rPr lang="en-IN" sz="1100" dirty="0">
                <a:solidFill>
                  <a:srgbClr val="F6F6F6"/>
                </a:solidFill>
                <a:latin typeface="Aptos"/>
              </a:rPr>
              <a:t>Team member 4</a:t>
            </a:r>
            <a:r>
              <a:rPr lang="en-IN" sz="1100" dirty="0" smtClean="0">
                <a:solidFill>
                  <a:srgbClr val="F6F6F6"/>
                </a:solidFill>
                <a:latin typeface="Aptos"/>
              </a:rPr>
              <a:t> : </a:t>
            </a:r>
            <a:r>
              <a:rPr lang="en-IN" sz="1100" u="sng" dirty="0" err="1" smtClean="0">
                <a:solidFill>
                  <a:srgbClr val="F6F6F6"/>
                </a:solidFill>
                <a:latin typeface="Aptos"/>
              </a:rPr>
              <a:t>Parth</a:t>
            </a:r>
            <a:r>
              <a:rPr lang="en-IN" sz="1100" u="sng" dirty="0" smtClean="0">
                <a:solidFill>
                  <a:srgbClr val="F6F6F6"/>
                </a:solidFill>
                <a:latin typeface="Aptos"/>
              </a:rPr>
              <a:t> </a:t>
            </a:r>
            <a:r>
              <a:rPr lang="en-IN" sz="1100" u="sng" dirty="0" err="1" smtClean="0">
                <a:solidFill>
                  <a:srgbClr val="F6F6F6"/>
                </a:solidFill>
                <a:latin typeface="Aptos"/>
              </a:rPr>
              <a:t>Balar</a:t>
            </a:r>
            <a:r>
              <a:rPr lang="en-IN" sz="1100" dirty="0" smtClean="0">
                <a:solidFill>
                  <a:srgbClr val="F6F6F6"/>
                </a:solidFill>
                <a:latin typeface="Aptos"/>
              </a:rPr>
              <a:t> </a:t>
            </a:r>
            <a:endParaRPr lang="en-IN" sz="1100" dirty="0">
              <a:solidFill>
                <a:srgbClr val="F6F6F6"/>
              </a:solidFill>
              <a:latin typeface="Aptos"/>
            </a:endParaRPr>
          </a:p>
        </p:txBody>
      </p:sp>
      <p:sp>
        <p:nvSpPr>
          <p:cNvPr id="22" name="TextBox 21"/>
          <p:cNvSpPr txBox="1"/>
          <p:nvPr/>
        </p:nvSpPr>
        <p:spPr>
          <a:xfrm>
            <a:off x="7882127" y="2672673"/>
            <a:ext cx="3154680" cy="206210"/>
          </a:xfrm>
          <a:prstGeom prst="rect">
            <a:avLst/>
          </a:prstGeom>
          <a:noFill/>
        </p:spPr>
        <p:txBody>
          <a:bodyPr wrap="square" lIns="36576" tIns="18288" rIns="36576" bIns="18288" anchor="t">
            <a:spAutoFit/>
          </a:bodyPr>
          <a:lstStyle/>
          <a:p>
            <a:pPr>
              <a:spcAft>
                <a:spcPts val="0"/>
              </a:spcAft>
            </a:pPr>
            <a:r>
              <a:rPr lang="en-IN" sz="1100" dirty="0">
                <a:solidFill>
                  <a:srgbClr val="F6F6F6"/>
                </a:solidFill>
                <a:latin typeface="Aptos"/>
              </a:rPr>
              <a:t>Team member </a:t>
            </a:r>
            <a:r>
              <a:rPr lang="en-IN" sz="1100" dirty="0" smtClean="0">
                <a:solidFill>
                  <a:srgbClr val="F6F6F6"/>
                </a:solidFill>
                <a:latin typeface="Aptos"/>
              </a:rPr>
              <a:t>5 : </a:t>
            </a:r>
            <a:r>
              <a:rPr lang="en-IN" sz="1100" u="sng" dirty="0" smtClean="0">
                <a:solidFill>
                  <a:srgbClr val="F6F6F6"/>
                </a:solidFill>
                <a:latin typeface="Aptos"/>
              </a:rPr>
              <a:t>Jessica </a:t>
            </a:r>
            <a:r>
              <a:rPr lang="en-IN" sz="1100" u="sng" dirty="0" err="1" smtClean="0">
                <a:solidFill>
                  <a:srgbClr val="F6F6F6"/>
                </a:solidFill>
                <a:latin typeface="Aptos"/>
              </a:rPr>
              <a:t>patel</a:t>
            </a:r>
            <a:endParaRPr lang="en-IN" sz="1100" u="sng" dirty="0">
              <a:solidFill>
                <a:srgbClr val="F6F6F6"/>
              </a:solidFill>
              <a:latin typeface="Aptos"/>
            </a:endParaRP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5029200" cy="256032"/>
          </a:xfrm>
          <a:prstGeom prst="rect">
            <a:avLst/>
          </a:prstGeom>
          <a:noFill/>
        </p:spPr>
        <p:txBody>
          <a:bodyPr wrap="square" lIns="45720" rIns="45720" anchor="t">
            <a:spAutoFit/>
          </a:bodyPr>
          <a:lstStyle/>
          <a:p>
            <a:pPr>
              <a:spcAft>
                <a:spcPts val="0"/>
              </a:spcAft>
            </a:pPr>
            <a:r>
              <a:rPr sz="1000" b="1">
                <a:solidFill>
                  <a:srgbClr val="E50914"/>
                </a:solidFill>
                <a:latin typeface="Aptos"/>
              </a:rPr>
              <a:t>NETFLIX DATA ANALYTICS</a:t>
            </a:r>
          </a:p>
        </p:txBody>
      </p:sp>
      <p:sp>
        <p:nvSpPr>
          <p:cNvPr id="3" name="TextBox 2"/>
          <p:cNvSpPr txBox="1"/>
          <p:nvPr/>
        </p:nvSpPr>
        <p:spPr>
          <a:xfrm>
            <a:off x="502920" y="566928"/>
            <a:ext cx="11155680" cy="530352"/>
          </a:xfrm>
          <a:prstGeom prst="rect">
            <a:avLst/>
          </a:prstGeom>
          <a:noFill/>
        </p:spPr>
        <p:txBody>
          <a:bodyPr wrap="square" lIns="45720" rIns="45720" anchor="t">
            <a:spAutoFit/>
          </a:bodyPr>
          <a:lstStyle/>
          <a:p>
            <a:pPr>
              <a:spcAft>
                <a:spcPts val="0"/>
              </a:spcAft>
            </a:pPr>
            <a:r>
              <a:rPr sz="2700" b="1" dirty="0">
                <a:solidFill>
                  <a:srgbClr val="F5F5F5"/>
                </a:solidFill>
                <a:latin typeface="Aptos"/>
              </a:rPr>
              <a:t>01  |  Understanding the Raw Dataset</a:t>
            </a:r>
          </a:p>
        </p:txBody>
      </p:sp>
      <p:sp>
        <p:nvSpPr>
          <p:cNvPr id="4" name="Rectangle 3"/>
          <p:cNvSpPr/>
          <p:nvPr/>
        </p:nvSpPr>
        <p:spPr>
          <a:xfrm>
            <a:off x="502920" y="1197864"/>
            <a:ext cx="713232" cy="5029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06640" y="256032"/>
            <a:ext cx="4251960" cy="228600"/>
          </a:xfrm>
          <a:prstGeom prst="rect">
            <a:avLst/>
          </a:prstGeom>
          <a:noFill/>
        </p:spPr>
        <p:txBody>
          <a:bodyPr wrap="square" lIns="45720" rIns="45720" anchor="t">
            <a:spAutoFit/>
          </a:bodyPr>
          <a:lstStyle/>
          <a:p>
            <a:pPr algn="r">
              <a:spcAft>
                <a:spcPts val="0"/>
              </a:spcAft>
            </a:pPr>
            <a:r>
              <a:rPr sz="900" b="1">
                <a:solidFill>
                  <a:srgbClr val="B8B8B8"/>
                </a:solidFill>
                <a:latin typeface="Aptos"/>
              </a:rPr>
              <a:t>NETFLIX CATALOGUE • DATA-DRIVEN STORY</a:t>
            </a:r>
          </a:p>
        </p:txBody>
      </p:sp>
      <p:sp>
        <p:nvSpPr>
          <p:cNvPr id="6" name="Rounded Rectangle 5"/>
          <p:cNvSpPr/>
          <p:nvPr/>
        </p:nvSpPr>
        <p:spPr>
          <a:xfrm>
            <a:off x="548640" y="1508760"/>
            <a:ext cx="2606040" cy="114300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508760"/>
            <a:ext cx="64008" cy="114300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45919"/>
            <a:ext cx="2286000" cy="228600"/>
          </a:xfrm>
          <a:prstGeom prst="rect">
            <a:avLst/>
          </a:prstGeom>
          <a:noFill/>
        </p:spPr>
        <p:txBody>
          <a:bodyPr wrap="square" lIns="45720" rIns="45720" anchor="t">
            <a:spAutoFit/>
          </a:bodyPr>
          <a:lstStyle/>
          <a:p>
            <a:pPr>
              <a:spcAft>
                <a:spcPts val="0"/>
              </a:spcAft>
            </a:pPr>
            <a:r>
              <a:rPr sz="900" b="1">
                <a:solidFill>
                  <a:srgbClr val="B8B8B8"/>
                </a:solidFill>
                <a:latin typeface="Aptos"/>
              </a:rPr>
              <a:t>RECORDS</a:t>
            </a:r>
          </a:p>
        </p:txBody>
      </p:sp>
      <p:sp>
        <p:nvSpPr>
          <p:cNvPr id="9" name="TextBox 8"/>
          <p:cNvSpPr txBox="1"/>
          <p:nvPr/>
        </p:nvSpPr>
        <p:spPr>
          <a:xfrm>
            <a:off x="731520" y="1947672"/>
            <a:ext cx="2286000" cy="438912"/>
          </a:xfrm>
          <a:prstGeom prst="rect">
            <a:avLst/>
          </a:prstGeom>
          <a:noFill/>
        </p:spPr>
        <p:txBody>
          <a:bodyPr wrap="square" lIns="45720" rIns="45720" anchor="t">
            <a:spAutoFit/>
          </a:bodyPr>
          <a:lstStyle/>
          <a:p>
            <a:pPr>
              <a:spcAft>
                <a:spcPts val="0"/>
              </a:spcAft>
            </a:pPr>
            <a:r>
              <a:rPr sz="2500" b="1">
                <a:solidFill>
                  <a:srgbClr val="F5F5F5"/>
                </a:solidFill>
                <a:latin typeface="Aptos"/>
              </a:rPr>
              <a:t>8,807</a:t>
            </a:r>
          </a:p>
        </p:txBody>
      </p:sp>
      <p:sp>
        <p:nvSpPr>
          <p:cNvPr id="10" name="TextBox 9"/>
          <p:cNvSpPr txBox="1"/>
          <p:nvPr/>
        </p:nvSpPr>
        <p:spPr>
          <a:xfrm>
            <a:off x="731520" y="2313432"/>
            <a:ext cx="2286000" cy="228600"/>
          </a:xfrm>
          <a:prstGeom prst="rect">
            <a:avLst/>
          </a:prstGeom>
          <a:noFill/>
        </p:spPr>
        <p:txBody>
          <a:bodyPr wrap="square" lIns="45720" rIns="45720" anchor="t">
            <a:spAutoFit/>
          </a:bodyPr>
          <a:lstStyle/>
          <a:p>
            <a:pPr>
              <a:spcAft>
                <a:spcPts val="0"/>
              </a:spcAft>
            </a:pPr>
            <a:r>
              <a:rPr sz="900" b="0">
                <a:solidFill>
                  <a:srgbClr val="B8B8B8"/>
                </a:solidFill>
                <a:latin typeface="Aptos"/>
              </a:rPr>
              <a:t>Rows in original CSV</a:t>
            </a:r>
          </a:p>
        </p:txBody>
      </p:sp>
      <p:sp>
        <p:nvSpPr>
          <p:cNvPr id="11" name="Rounded Rectangle 10"/>
          <p:cNvSpPr/>
          <p:nvPr/>
        </p:nvSpPr>
        <p:spPr>
          <a:xfrm>
            <a:off x="3337560" y="1508760"/>
            <a:ext cx="2606040" cy="114300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7560" y="1508760"/>
            <a:ext cx="64008" cy="114300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20440" y="1645919"/>
            <a:ext cx="2286000" cy="228600"/>
          </a:xfrm>
          <a:prstGeom prst="rect">
            <a:avLst/>
          </a:prstGeom>
          <a:noFill/>
        </p:spPr>
        <p:txBody>
          <a:bodyPr wrap="square" lIns="45720" rIns="45720" anchor="t">
            <a:spAutoFit/>
          </a:bodyPr>
          <a:lstStyle/>
          <a:p>
            <a:pPr>
              <a:spcAft>
                <a:spcPts val="0"/>
              </a:spcAft>
            </a:pPr>
            <a:r>
              <a:rPr sz="900" b="1">
                <a:solidFill>
                  <a:srgbClr val="B8B8B8"/>
                </a:solidFill>
                <a:latin typeface="Aptos"/>
              </a:rPr>
              <a:t>FIELDS</a:t>
            </a:r>
          </a:p>
        </p:txBody>
      </p:sp>
      <p:sp>
        <p:nvSpPr>
          <p:cNvPr id="14" name="TextBox 13"/>
          <p:cNvSpPr txBox="1"/>
          <p:nvPr/>
        </p:nvSpPr>
        <p:spPr>
          <a:xfrm>
            <a:off x="3520440" y="1947672"/>
            <a:ext cx="2286000" cy="438912"/>
          </a:xfrm>
          <a:prstGeom prst="rect">
            <a:avLst/>
          </a:prstGeom>
          <a:noFill/>
        </p:spPr>
        <p:txBody>
          <a:bodyPr wrap="square" lIns="45720" rIns="45720" anchor="t">
            <a:spAutoFit/>
          </a:bodyPr>
          <a:lstStyle/>
          <a:p>
            <a:pPr>
              <a:spcAft>
                <a:spcPts val="0"/>
              </a:spcAft>
            </a:pPr>
            <a:r>
              <a:rPr sz="2500" b="1">
                <a:solidFill>
                  <a:srgbClr val="F5F5F5"/>
                </a:solidFill>
                <a:latin typeface="Aptos"/>
              </a:rPr>
              <a:t>12</a:t>
            </a:r>
          </a:p>
        </p:txBody>
      </p:sp>
      <p:sp>
        <p:nvSpPr>
          <p:cNvPr id="15" name="TextBox 14"/>
          <p:cNvSpPr txBox="1"/>
          <p:nvPr/>
        </p:nvSpPr>
        <p:spPr>
          <a:xfrm>
            <a:off x="3520440" y="2313432"/>
            <a:ext cx="2286000" cy="228600"/>
          </a:xfrm>
          <a:prstGeom prst="rect">
            <a:avLst/>
          </a:prstGeom>
          <a:noFill/>
        </p:spPr>
        <p:txBody>
          <a:bodyPr wrap="square" lIns="45720" rIns="45720" anchor="t">
            <a:spAutoFit/>
          </a:bodyPr>
          <a:lstStyle/>
          <a:p>
            <a:pPr>
              <a:spcAft>
                <a:spcPts val="0"/>
              </a:spcAft>
            </a:pPr>
            <a:r>
              <a:rPr sz="900" b="0">
                <a:solidFill>
                  <a:srgbClr val="B8B8B8"/>
                </a:solidFill>
                <a:latin typeface="Aptos"/>
              </a:rPr>
              <a:t>Columns available</a:t>
            </a:r>
          </a:p>
        </p:txBody>
      </p:sp>
      <p:sp>
        <p:nvSpPr>
          <p:cNvPr id="16" name="Rounded Rectangle 15"/>
          <p:cNvSpPr/>
          <p:nvPr/>
        </p:nvSpPr>
        <p:spPr>
          <a:xfrm>
            <a:off x="6126480" y="1508760"/>
            <a:ext cx="2606040" cy="114300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26480" y="1508760"/>
            <a:ext cx="64008" cy="1143000"/>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645919"/>
            <a:ext cx="2286000" cy="228600"/>
          </a:xfrm>
          <a:prstGeom prst="rect">
            <a:avLst/>
          </a:prstGeom>
          <a:noFill/>
        </p:spPr>
        <p:txBody>
          <a:bodyPr wrap="square" lIns="45720" rIns="45720" anchor="t">
            <a:spAutoFit/>
          </a:bodyPr>
          <a:lstStyle/>
          <a:p>
            <a:pPr>
              <a:spcAft>
                <a:spcPts val="0"/>
              </a:spcAft>
            </a:pPr>
            <a:r>
              <a:rPr sz="900" b="1">
                <a:solidFill>
                  <a:srgbClr val="B8B8B8"/>
                </a:solidFill>
                <a:latin typeface="Aptos"/>
              </a:rPr>
              <a:t>EXACT DUPLICATES</a:t>
            </a:r>
          </a:p>
        </p:txBody>
      </p:sp>
      <p:sp>
        <p:nvSpPr>
          <p:cNvPr id="19" name="TextBox 18"/>
          <p:cNvSpPr txBox="1"/>
          <p:nvPr/>
        </p:nvSpPr>
        <p:spPr>
          <a:xfrm>
            <a:off x="6309360" y="1947672"/>
            <a:ext cx="2286000" cy="438912"/>
          </a:xfrm>
          <a:prstGeom prst="rect">
            <a:avLst/>
          </a:prstGeom>
          <a:noFill/>
        </p:spPr>
        <p:txBody>
          <a:bodyPr wrap="square" lIns="45720" rIns="45720" anchor="t">
            <a:spAutoFit/>
          </a:bodyPr>
          <a:lstStyle/>
          <a:p>
            <a:pPr>
              <a:spcAft>
                <a:spcPts val="0"/>
              </a:spcAft>
            </a:pPr>
            <a:r>
              <a:rPr sz="2500" b="1" dirty="0">
                <a:solidFill>
                  <a:srgbClr val="F5F5F5"/>
                </a:solidFill>
                <a:latin typeface="Aptos"/>
              </a:rPr>
              <a:t>0</a:t>
            </a:r>
          </a:p>
        </p:txBody>
      </p:sp>
      <p:sp>
        <p:nvSpPr>
          <p:cNvPr id="20" name="TextBox 19"/>
          <p:cNvSpPr txBox="1"/>
          <p:nvPr/>
        </p:nvSpPr>
        <p:spPr>
          <a:xfrm>
            <a:off x="6309360" y="2313432"/>
            <a:ext cx="2286000" cy="228600"/>
          </a:xfrm>
          <a:prstGeom prst="rect">
            <a:avLst/>
          </a:prstGeom>
          <a:noFill/>
        </p:spPr>
        <p:txBody>
          <a:bodyPr wrap="square" lIns="45720" rIns="45720" anchor="t">
            <a:spAutoFit/>
          </a:bodyPr>
          <a:lstStyle/>
          <a:p>
            <a:pPr>
              <a:spcAft>
                <a:spcPts val="0"/>
              </a:spcAft>
            </a:pPr>
            <a:r>
              <a:rPr sz="900" b="0">
                <a:solidFill>
                  <a:srgbClr val="B8B8B8"/>
                </a:solidFill>
                <a:latin typeface="Aptos"/>
              </a:rPr>
              <a:t>No full-row duplicates</a:t>
            </a:r>
          </a:p>
        </p:txBody>
      </p:sp>
      <p:sp>
        <p:nvSpPr>
          <p:cNvPr id="21" name="Rounded Rectangle 20"/>
          <p:cNvSpPr/>
          <p:nvPr/>
        </p:nvSpPr>
        <p:spPr>
          <a:xfrm>
            <a:off x="8915400" y="1508760"/>
            <a:ext cx="2606040" cy="114300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915400" y="1508760"/>
            <a:ext cx="64008" cy="1143000"/>
          </a:xfrm>
          <a:prstGeom prst="rect">
            <a:avLst/>
          </a:prstGeom>
          <a:solidFill>
            <a:srgbClr val="F5B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98280" y="1645919"/>
            <a:ext cx="2286000" cy="228600"/>
          </a:xfrm>
          <a:prstGeom prst="rect">
            <a:avLst/>
          </a:prstGeom>
          <a:noFill/>
        </p:spPr>
        <p:txBody>
          <a:bodyPr wrap="square" lIns="45720" rIns="45720" anchor="t">
            <a:spAutoFit/>
          </a:bodyPr>
          <a:lstStyle/>
          <a:p>
            <a:pPr>
              <a:spcAft>
                <a:spcPts val="0"/>
              </a:spcAft>
            </a:pPr>
            <a:r>
              <a:rPr sz="900" b="1">
                <a:solidFill>
                  <a:srgbClr val="B8B8B8"/>
                </a:solidFill>
                <a:latin typeface="Aptos"/>
              </a:rPr>
              <a:t>RELEASE YEARS</a:t>
            </a:r>
          </a:p>
        </p:txBody>
      </p:sp>
      <p:sp>
        <p:nvSpPr>
          <p:cNvPr id="24" name="TextBox 23"/>
          <p:cNvSpPr txBox="1"/>
          <p:nvPr/>
        </p:nvSpPr>
        <p:spPr>
          <a:xfrm>
            <a:off x="9098280" y="1947672"/>
            <a:ext cx="2286000" cy="438912"/>
          </a:xfrm>
          <a:prstGeom prst="rect">
            <a:avLst/>
          </a:prstGeom>
          <a:noFill/>
        </p:spPr>
        <p:txBody>
          <a:bodyPr wrap="square" lIns="45720" rIns="45720" anchor="t">
            <a:spAutoFit/>
          </a:bodyPr>
          <a:lstStyle/>
          <a:p>
            <a:pPr>
              <a:spcAft>
                <a:spcPts val="0"/>
              </a:spcAft>
            </a:pPr>
            <a:r>
              <a:rPr sz="2500" b="1" dirty="0">
                <a:solidFill>
                  <a:srgbClr val="F5F5F5"/>
                </a:solidFill>
                <a:latin typeface="Aptos"/>
              </a:rPr>
              <a:t>1925–2021</a:t>
            </a:r>
          </a:p>
        </p:txBody>
      </p:sp>
      <p:sp>
        <p:nvSpPr>
          <p:cNvPr id="25" name="TextBox 24"/>
          <p:cNvSpPr txBox="1"/>
          <p:nvPr/>
        </p:nvSpPr>
        <p:spPr>
          <a:xfrm>
            <a:off x="9098280" y="2313432"/>
            <a:ext cx="2286000" cy="228600"/>
          </a:xfrm>
          <a:prstGeom prst="rect">
            <a:avLst/>
          </a:prstGeom>
          <a:noFill/>
        </p:spPr>
        <p:txBody>
          <a:bodyPr wrap="square" lIns="45720" rIns="45720" anchor="t">
            <a:spAutoFit/>
          </a:bodyPr>
          <a:lstStyle/>
          <a:p>
            <a:pPr>
              <a:spcAft>
                <a:spcPts val="0"/>
              </a:spcAft>
            </a:pPr>
            <a:r>
              <a:rPr sz="900" b="0">
                <a:solidFill>
                  <a:srgbClr val="B8B8B8"/>
                </a:solidFill>
                <a:latin typeface="Aptos"/>
              </a:rPr>
              <a:t>Range in dataset</a:t>
            </a:r>
          </a:p>
        </p:txBody>
      </p:sp>
      <p:sp>
        <p:nvSpPr>
          <p:cNvPr id="26" name="Rounded Rectangle 25"/>
          <p:cNvSpPr/>
          <p:nvPr/>
        </p:nvSpPr>
        <p:spPr>
          <a:xfrm>
            <a:off x="548640" y="2926080"/>
            <a:ext cx="5440680" cy="315468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4672" y="3154680"/>
            <a:ext cx="4754880" cy="274320"/>
          </a:xfrm>
          <a:prstGeom prst="rect">
            <a:avLst/>
          </a:prstGeom>
          <a:noFill/>
        </p:spPr>
        <p:txBody>
          <a:bodyPr wrap="square" lIns="45720" rIns="45720" anchor="t">
            <a:spAutoFit/>
          </a:bodyPr>
          <a:lstStyle/>
          <a:p>
            <a:pPr>
              <a:spcAft>
                <a:spcPts val="0"/>
              </a:spcAft>
            </a:pPr>
            <a:r>
              <a:rPr sz="1200" b="1">
                <a:solidFill>
                  <a:srgbClr val="E50914"/>
                </a:solidFill>
                <a:latin typeface="Aptos"/>
              </a:rPr>
              <a:t>DATA QUALITY: MISSING VALUES</a:t>
            </a:r>
          </a:p>
        </p:txBody>
      </p:sp>
      <p:sp>
        <p:nvSpPr>
          <p:cNvPr id="28" name="TextBox 27"/>
          <p:cNvSpPr txBox="1"/>
          <p:nvPr/>
        </p:nvSpPr>
        <p:spPr>
          <a:xfrm>
            <a:off x="822960" y="3584448"/>
            <a:ext cx="1965960" cy="246888"/>
          </a:xfrm>
          <a:prstGeom prst="rect">
            <a:avLst/>
          </a:prstGeom>
          <a:noFill/>
        </p:spPr>
        <p:txBody>
          <a:bodyPr wrap="square" lIns="45720" rIns="45720" anchor="t">
            <a:spAutoFit/>
          </a:bodyPr>
          <a:lstStyle/>
          <a:p>
            <a:pPr>
              <a:spcAft>
                <a:spcPts val="0"/>
              </a:spcAft>
            </a:pPr>
            <a:r>
              <a:rPr sz="1100" b="0">
                <a:solidFill>
                  <a:srgbClr val="F5F5F5"/>
                </a:solidFill>
                <a:latin typeface="Aptos"/>
              </a:rPr>
              <a:t>director</a:t>
            </a:r>
          </a:p>
        </p:txBody>
      </p:sp>
      <p:sp>
        <p:nvSpPr>
          <p:cNvPr id="29" name="Rectangle 28"/>
          <p:cNvSpPr/>
          <p:nvPr/>
        </p:nvSpPr>
        <p:spPr>
          <a:xfrm>
            <a:off x="2834640" y="3602736"/>
            <a:ext cx="1965960" cy="1737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834640" y="3602736"/>
            <a:ext cx="1965960" cy="173736"/>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10328" y="3566160"/>
            <a:ext cx="685800" cy="228600"/>
          </a:xfrm>
          <a:prstGeom prst="rect">
            <a:avLst/>
          </a:prstGeom>
          <a:noFill/>
        </p:spPr>
        <p:txBody>
          <a:bodyPr wrap="square" lIns="45720" rIns="45720" anchor="t">
            <a:spAutoFit/>
          </a:bodyPr>
          <a:lstStyle/>
          <a:p>
            <a:pPr algn="r">
              <a:spcAft>
                <a:spcPts val="0"/>
              </a:spcAft>
            </a:pPr>
            <a:r>
              <a:rPr sz="1000" b="1">
                <a:solidFill>
                  <a:srgbClr val="B8B8B8"/>
                </a:solidFill>
                <a:latin typeface="Aptos"/>
              </a:rPr>
              <a:t>2,634</a:t>
            </a:r>
          </a:p>
        </p:txBody>
      </p:sp>
      <p:sp>
        <p:nvSpPr>
          <p:cNvPr id="32" name="TextBox 31"/>
          <p:cNvSpPr txBox="1"/>
          <p:nvPr/>
        </p:nvSpPr>
        <p:spPr>
          <a:xfrm>
            <a:off x="822960" y="3968496"/>
            <a:ext cx="1965960" cy="246888"/>
          </a:xfrm>
          <a:prstGeom prst="rect">
            <a:avLst/>
          </a:prstGeom>
          <a:noFill/>
        </p:spPr>
        <p:txBody>
          <a:bodyPr wrap="square" lIns="45720" rIns="45720" anchor="t">
            <a:spAutoFit/>
          </a:bodyPr>
          <a:lstStyle/>
          <a:p>
            <a:pPr>
              <a:spcAft>
                <a:spcPts val="0"/>
              </a:spcAft>
            </a:pPr>
            <a:r>
              <a:rPr sz="1100" b="0">
                <a:solidFill>
                  <a:srgbClr val="F5F5F5"/>
                </a:solidFill>
                <a:latin typeface="Aptos"/>
              </a:rPr>
              <a:t>country</a:t>
            </a:r>
          </a:p>
        </p:txBody>
      </p:sp>
      <p:sp>
        <p:nvSpPr>
          <p:cNvPr id="33" name="Rectangle 32"/>
          <p:cNvSpPr/>
          <p:nvPr/>
        </p:nvSpPr>
        <p:spPr>
          <a:xfrm>
            <a:off x="2834640" y="3986783"/>
            <a:ext cx="1965960" cy="1737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834640" y="3986783"/>
            <a:ext cx="620240" cy="173736"/>
          </a:xfrm>
          <a:prstGeom prst="rect">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10328" y="3950208"/>
            <a:ext cx="685800" cy="228600"/>
          </a:xfrm>
          <a:prstGeom prst="rect">
            <a:avLst/>
          </a:prstGeom>
          <a:noFill/>
        </p:spPr>
        <p:txBody>
          <a:bodyPr wrap="square" lIns="45720" rIns="45720" anchor="t">
            <a:spAutoFit/>
          </a:bodyPr>
          <a:lstStyle/>
          <a:p>
            <a:pPr algn="r">
              <a:spcAft>
                <a:spcPts val="0"/>
              </a:spcAft>
            </a:pPr>
            <a:r>
              <a:rPr sz="1000" b="1">
                <a:solidFill>
                  <a:srgbClr val="B8B8B8"/>
                </a:solidFill>
                <a:latin typeface="Aptos"/>
              </a:rPr>
              <a:t>831</a:t>
            </a:r>
          </a:p>
        </p:txBody>
      </p:sp>
      <p:sp>
        <p:nvSpPr>
          <p:cNvPr id="36" name="TextBox 35"/>
          <p:cNvSpPr txBox="1"/>
          <p:nvPr/>
        </p:nvSpPr>
        <p:spPr>
          <a:xfrm>
            <a:off x="822960" y="4352544"/>
            <a:ext cx="1965960" cy="246888"/>
          </a:xfrm>
          <a:prstGeom prst="rect">
            <a:avLst/>
          </a:prstGeom>
          <a:noFill/>
        </p:spPr>
        <p:txBody>
          <a:bodyPr wrap="square" lIns="45720" rIns="45720" anchor="t">
            <a:spAutoFit/>
          </a:bodyPr>
          <a:lstStyle/>
          <a:p>
            <a:pPr>
              <a:spcAft>
                <a:spcPts val="0"/>
              </a:spcAft>
            </a:pPr>
            <a:r>
              <a:rPr sz="1100" b="0">
                <a:solidFill>
                  <a:srgbClr val="F5F5F5"/>
                </a:solidFill>
                <a:latin typeface="Aptos"/>
              </a:rPr>
              <a:t>cast</a:t>
            </a:r>
          </a:p>
        </p:txBody>
      </p:sp>
      <p:sp>
        <p:nvSpPr>
          <p:cNvPr id="37" name="Rectangle 36"/>
          <p:cNvSpPr/>
          <p:nvPr/>
        </p:nvSpPr>
        <p:spPr>
          <a:xfrm>
            <a:off x="2834640" y="4370831"/>
            <a:ext cx="1965960" cy="1737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834640" y="4370831"/>
            <a:ext cx="615761" cy="173736"/>
          </a:xfrm>
          <a:prstGeom prst="rect">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910328" y="4334256"/>
            <a:ext cx="685800" cy="228600"/>
          </a:xfrm>
          <a:prstGeom prst="rect">
            <a:avLst/>
          </a:prstGeom>
          <a:noFill/>
        </p:spPr>
        <p:txBody>
          <a:bodyPr wrap="square" lIns="45720" rIns="45720" anchor="t">
            <a:spAutoFit/>
          </a:bodyPr>
          <a:lstStyle/>
          <a:p>
            <a:pPr algn="r">
              <a:spcAft>
                <a:spcPts val="0"/>
              </a:spcAft>
            </a:pPr>
            <a:r>
              <a:rPr sz="1000" b="1">
                <a:solidFill>
                  <a:srgbClr val="B8B8B8"/>
                </a:solidFill>
                <a:latin typeface="Aptos"/>
              </a:rPr>
              <a:t>825</a:t>
            </a:r>
          </a:p>
        </p:txBody>
      </p:sp>
      <p:sp>
        <p:nvSpPr>
          <p:cNvPr id="40" name="TextBox 39"/>
          <p:cNvSpPr txBox="1"/>
          <p:nvPr/>
        </p:nvSpPr>
        <p:spPr>
          <a:xfrm>
            <a:off x="822960" y="4736592"/>
            <a:ext cx="1965960" cy="246888"/>
          </a:xfrm>
          <a:prstGeom prst="rect">
            <a:avLst/>
          </a:prstGeom>
          <a:noFill/>
        </p:spPr>
        <p:txBody>
          <a:bodyPr wrap="square" lIns="45720" rIns="45720" anchor="t">
            <a:spAutoFit/>
          </a:bodyPr>
          <a:lstStyle/>
          <a:p>
            <a:pPr>
              <a:spcAft>
                <a:spcPts val="0"/>
              </a:spcAft>
            </a:pPr>
            <a:r>
              <a:rPr sz="1100" b="0">
                <a:solidFill>
                  <a:srgbClr val="F5F5F5"/>
                </a:solidFill>
                <a:latin typeface="Aptos"/>
              </a:rPr>
              <a:t>date_added</a:t>
            </a:r>
          </a:p>
        </p:txBody>
      </p:sp>
      <p:sp>
        <p:nvSpPr>
          <p:cNvPr id="41" name="Rectangle 40"/>
          <p:cNvSpPr/>
          <p:nvPr/>
        </p:nvSpPr>
        <p:spPr>
          <a:xfrm>
            <a:off x="2834640" y="4754879"/>
            <a:ext cx="1965960" cy="1737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834640" y="4754879"/>
            <a:ext cx="36576" cy="173736"/>
          </a:xfrm>
          <a:prstGeom prst="rect">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10328" y="4718304"/>
            <a:ext cx="685800" cy="228600"/>
          </a:xfrm>
          <a:prstGeom prst="rect">
            <a:avLst/>
          </a:prstGeom>
          <a:noFill/>
        </p:spPr>
        <p:txBody>
          <a:bodyPr wrap="square" lIns="45720" rIns="45720" anchor="t">
            <a:spAutoFit/>
          </a:bodyPr>
          <a:lstStyle/>
          <a:p>
            <a:pPr algn="r">
              <a:spcAft>
                <a:spcPts val="0"/>
              </a:spcAft>
            </a:pPr>
            <a:r>
              <a:rPr sz="1000" b="1">
                <a:solidFill>
                  <a:srgbClr val="B8B8B8"/>
                </a:solidFill>
                <a:latin typeface="Aptos"/>
              </a:rPr>
              <a:t>10</a:t>
            </a:r>
          </a:p>
        </p:txBody>
      </p:sp>
      <p:sp>
        <p:nvSpPr>
          <p:cNvPr id="44" name="TextBox 43"/>
          <p:cNvSpPr txBox="1"/>
          <p:nvPr/>
        </p:nvSpPr>
        <p:spPr>
          <a:xfrm>
            <a:off x="822960" y="5120640"/>
            <a:ext cx="1965960" cy="246888"/>
          </a:xfrm>
          <a:prstGeom prst="rect">
            <a:avLst/>
          </a:prstGeom>
          <a:noFill/>
        </p:spPr>
        <p:txBody>
          <a:bodyPr wrap="square" lIns="45720" rIns="45720" anchor="t">
            <a:spAutoFit/>
          </a:bodyPr>
          <a:lstStyle/>
          <a:p>
            <a:pPr>
              <a:spcAft>
                <a:spcPts val="0"/>
              </a:spcAft>
            </a:pPr>
            <a:r>
              <a:rPr sz="1100" b="0">
                <a:solidFill>
                  <a:srgbClr val="F5F5F5"/>
                </a:solidFill>
                <a:latin typeface="Aptos"/>
              </a:rPr>
              <a:t>rating</a:t>
            </a:r>
          </a:p>
        </p:txBody>
      </p:sp>
      <p:sp>
        <p:nvSpPr>
          <p:cNvPr id="45" name="Rectangle 44"/>
          <p:cNvSpPr/>
          <p:nvPr/>
        </p:nvSpPr>
        <p:spPr>
          <a:xfrm>
            <a:off x="2834640" y="5138927"/>
            <a:ext cx="1965960" cy="1737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834640" y="5138927"/>
            <a:ext cx="36576" cy="173736"/>
          </a:xfrm>
          <a:prstGeom prst="rect">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10328" y="5102352"/>
            <a:ext cx="685800" cy="228600"/>
          </a:xfrm>
          <a:prstGeom prst="rect">
            <a:avLst/>
          </a:prstGeom>
          <a:noFill/>
        </p:spPr>
        <p:txBody>
          <a:bodyPr wrap="square" lIns="45720" rIns="45720" anchor="t">
            <a:spAutoFit/>
          </a:bodyPr>
          <a:lstStyle/>
          <a:p>
            <a:pPr algn="r">
              <a:spcAft>
                <a:spcPts val="0"/>
              </a:spcAft>
            </a:pPr>
            <a:r>
              <a:rPr sz="1000" b="1">
                <a:solidFill>
                  <a:srgbClr val="B8B8B8"/>
                </a:solidFill>
                <a:latin typeface="Aptos"/>
              </a:rPr>
              <a:t>4</a:t>
            </a:r>
          </a:p>
        </p:txBody>
      </p:sp>
      <p:sp>
        <p:nvSpPr>
          <p:cNvPr id="48" name="TextBox 47"/>
          <p:cNvSpPr txBox="1"/>
          <p:nvPr/>
        </p:nvSpPr>
        <p:spPr>
          <a:xfrm>
            <a:off x="822960" y="5504688"/>
            <a:ext cx="1965960" cy="246888"/>
          </a:xfrm>
          <a:prstGeom prst="rect">
            <a:avLst/>
          </a:prstGeom>
          <a:noFill/>
        </p:spPr>
        <p:txBody>
          <a:bodyPr wrap="square" lIns="45720" rIns="45720" anchor="t">
            <a:spAutoFit/>
          </a:bodyPr>
          <a:lstStyle/>
          <a:p>
            <a:pPr>
              <a:spcAft>
                <a:spcPts val="0"/>
              </a:spcAft>
            </a:pPr>
            <a:r>
              <a:rPr sz="1100" b="0">
                <a:solidFill>
                  <a:srgbClr val="F5F5F5"/>
                </a:solidFill>
                <a:latin typeface="Aptos"/>
              </a:rPr>
              <a:t>duration</a:t>
            </a:r>
          </a:p>
        </p:txBody>
      </p:sp>
      <p:sp>
        <p:nvSpPr>
          <p:cNvPr id="49" name="Rectangle 48"/>
          <p:cNvSpPr/>
          <p:nvPr/>
        </p:nvSpPr>
        <p:spPr>
          <a:xfrm>
            <a:off x="2834640" y="5522975"/>
            <a:ext cx="1965960" cy="1737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2834640" y="5522975"/>
            <a:ext cx="36576" cy="173736"/>
          </a:xfrm>
          <a:prstGeom prst="rect">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910328" y="5486400"/>
            <a:ext cx="685800" cy="228600"/>
          </a:xfrm>
          <a:prstGeom prst="rect">
            <a:avLst/>
          </a:prstGeom>
          <a:noFill/>
        </p:spPr>
        <p:txBody>
          <a:bodyPr wrap="square" lIns="45720" rIns="45720" anchor="t">
            <a:spAutoFit/>
          </a:bodyPr>
          <a:lstStyle/>
          <a:p>
            <a:pPr algn="r">
              <a:spcAft>
                <a:spcPts val="0"/>
              </a:spcAft>
            </a:pPr>
            <a:r>
              <a:rPr sz="1000" b="1">
                <a:solidFill>
                  <a:srgbClr val="B8B8B8"/>
                </a:solidFill>
                <a:latin typeface="Aptos"/>
              </a:rPr>
              <a:t>3</a:t>
            </a:r>
          </a:p>
        </p:txBody>
      </p:sp>
      <p:sp>
        <p:nvSpPr>
          <p:cNvPr id="52" name="Rounded Rectangle 51"/>
          <p:cNvSpPr/>
          <p:nvPr/>
        </p:nvSpPr>
        <p:spPr>
          <a:xfrm>
            <a:off x="6217920" y="2926080"/>
            <a:ext cx="5303520" cy="315468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3" name="TextBox 52"/>
          <p:cNvSpPr txBox="1"/>
          <p:nvPr/>
        </p:nvSpPr>
        <p:spPr>
          <a:xfrm>
            <a:off x="6473952" y="3154680"/>
            <a:ext cx="4480560" cy="274320"/>
          </a:xfrm>
          <a:prstGeom prst="rect">
            <a:avLst/>
          </a:prstGeom>
          <a:noFill/>
        </p:spPr>
        <p:txBody>
          <a:bodyPr wrap="square" lIns="45720" rIns="45720" anchor="t">
            <a:spAutoFit/>
          </a:bodyPr>
          <a:lstStyle/>
          <a:p>
            <a:pPr>
              <a:spcAft>
                <a:spcPts val="0"/>
              </a:spcAft>
            </a:pPr>
            <a:r>
              <a:rPr sz="1200" b="1">
                <a:solidFill>
                  <a:srgbClr val="E50914"/>
                </a:solidFill>
                <a:latin typeface="Aptos"/>
              </a:rPr>
              <a:t>KEY FIELDS</a:t>
            </a:r>
          </a:p>
        </p:txBody>
      </p:sp>
      <p:sp>
        <p:nvSpPr>
          <p:cNvPr id="54" name="Rectangle 53"/>
          <p:cNvSpPr/>
          <p:nvPr/>
        </p:nvSpPr>
        <p:spPr>
          <a:xfrm>
            <a:off x="6473952" y="3547872"/>
            <a:ext cx="1508760" cy="315468"/>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528816" y="3575303"/>
            <a:ext cx="1399031" cy="265176"/>
          </a:xfrm>
          <a:prstGeom prst="rect">
            <a:avLst/>
          </a:prstGeom>
          <a:noFill/>
        </p:spPr>
        <p:txBody>
          <a:bodyPr wrap="square" lIns="45720" rIns="45720" anchor="ctr">
            <a:spAutoFit/>
          </a:bodyPr>
          <a:lstStyle/>
          <a:p>
            <a:pPr>
              <a:spcAft>
                <a:spcPts val="0"/>
              </a:spcAft>
            </a:pPr>
            <a:r>
              <a:rPr sz="1000" b="1">
                <a:solidFill>
                  <a:srgbClr val="F5F5F5"/>
                </a:solidFill>
                <a:latin typeface="Aptos"/>
              </a:rPr>
              <a:t>Field</a:t>
            </a:r>
          </a:p>
        </p:txBody>
      </p:sp>
      <p:sp>
        <p:nvSpPr>
          <p:cNvPr id="56" name="Rectangle 55"/>
          <p:cNvSpPr/>
          <p:nvPr/>
        </p:nvSpPr>
        <p:spPr>
          <a:xfrm>
            <a:off x="7982712" y="3547872"/>
            <a:ext cx="2743200" cy="315468"/>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37576" y="3575303"/>
            <a:ext cx="2633472" cy="265176"/>
          </a:xfrm>
          <a:prstGeom prst="rect">
            <a:avLst/>
          </a:prstGeom>
          <a:noFill/>
        </p:spPr>
        <p:txBody>
          <a:bodyPr wrap="square" lIns="45720" rIns="45720" anchor="ctr">
            <a:spAutoFit/>
          </a:bodyPr>
          <a:lstStyle/>
          <a:p>
            <a:pPr>
              <a:spcAft>
                <a:spcPts val="0"/>
              </a:spcAft>
            </a:pPr>
            <a:r>
              <a:rPr sz="1000" b="1">
                <a:solidFill>
                  <a:srgbClr val="F5F5F5"/>
                </a:solidFill>
                <a:latin typeface="Aptos"/>
              </a:rPr>
              <a:t>Meaning</a:t>
            </a:r>
          </a:p>
        </p:txBody>
      </p:sp>
      <p:sp>
        <p:nvSpPr>
          <p:cNvPr id="58" name="Rectangle 57"/>
          <p:cNvSpPr/>
          <p:nvPr/>
        </p:nvSpPr>
        <p:spPr>
          <a:xfrm>
            <a:off x="6473952" y="3886200"/>
            <a:ext cx="1508760" cy="315468"/>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528816" y="3913632"/>
            <a:ext cx="1399031"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type</a:t>
            </a:r>
          </a:p>
        </p:txBody>
      </p:sp>
      <p:sp>
        <p:nvSpPr>
          <p:cNvPr id="60" name="Rectangle 59"/>
          <p:cNvSpPr/>
          <p:nvPr/>
        </p:nvSpPr>
        <p:spPr>
          <a:xfrm>
            <a:off x="7982712" y="3886200"/>
            <a:ext cx="2743200" cy="315468"/>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037576" y="3913632"/>
            <a:ext cx="2633472"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Movie or TV Show</a:t>
            </a:r>
          </a:p>
        </p:txBody>
      </p:sp>
      <p:sp>
        <p:nvSpPr>
          <p:cNvPr id="62" name="Rectangle 61"/>
          <p:cNvSpPr/>
          <p:nvPr/>
        </p:nvSpPr>
        <p:spPr>
          <a:xfrm>
            <a:off x="6473952" y="4224528"/>
            <a:ext cx="1508760" cy="315468"/>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528816" y="4251960"/>
            <a:ext cx="1399031"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release_year</a:t>
            </a:r>
          </a:p>
        </p:txBody>
      </p:sp>
      <p:sp>
        <p:nvSpPr>
          <p:cNvPr id="64" name="Rectangle 63"/>
          <p:cNvSpPr/>
          <p:nvPr/>
        </p:nvSpPr>
        <p:spPr>
          <a:xfrm>
            <a:off x="7982712" y="4224528"/>
            <a:ext cx="2743200" cy="315468"/>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037576" y="4251960"/>
            <a:ext cx="2633472"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Original release year</a:t>
            </a:r>
          </a:p>
        </p:txBody>
      </p:sp>
      <p:sp>
        <p:nvSpPr>
          <p:cNvPr id="66" name="Rectangle 65"/>
          <p:cNvSpPr/>
          <p:nvPr/>
        </p:nvSpPr>
        <p:spPr>
          <a:xfrm>
            <a:off x="6473952" y="4562856"/>
            <a:ext cx="1508760" cy="315468"/>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28816" y="4590288"/>
            <a:ext cx="1399031"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country</a:t>
            </a:r>
          </a:p>
        </p:txBody>
      </p:sp>
      <p:sp>
        <p:nvSpPr>
          <p:cNvPr id="68" name="Rectangle 67"/>
          <p:cNvSpPr/>
          <p:nvPr/>
        </p:nvSpPr>
        <p:spPr>
          <a:xfrm>
            <a:off x="7982712" y="4562856"/>
            <a:ext cx="2743200" cy="315468"/>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037576" y="4590288"/>
            <a:ext cx="2633472"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Production country/countries</a:t>
            </a:r>
          </a:p>
        </p:txBody>
      </p:sp>
      <p:sp>
        <p:nvSpPr>
          <p:cNvPr id="70" name="Rectangle 69"/>
          <p:cNvSpPr/>
          <p:nvPr/>
        </p:nvSpPr>
        <p:spPr>
          <a:xfrm>
            <a:off x="6473952" y="4901183"/>
            <a:ext cx="1508760" cy="315468"/>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528816" y="4928616"/>
            <a:ext cx="1399031"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date_added</a:t>
            </a:r>
          </a:p>
        </p:txBody>
      </p:sp>
      <p:sp>
        <p:nvSpPr>
          <p:cNvPr id="72" name="Rectangle 71"/>
          <p:cNvSpPr/>
          <p:nvPr/>
        </p:nvSpPr>
        <p:spPr>
          <a:xfrm>
            <a:off x="7982712" y="4901183"/>
            <a:ext cx="2743200" cy="315468"/>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037576" y="4928616"/>
            <a:ext cx="2633472"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Date added to catalogue</a:t>
            </a:r>
          </a:p>
        </p:txBody>
      </p:sp>
      <p:sp>
        <p:nvSpPr>
          <p:cNvPr id="74" name="Rectangle 73"/>
          <p:cNvSpPr/>
          <p:nvPr/>
        </p:nvSpPr>
        <p:spPr>
          <a:xfrm>
            <a:off x="6473952" y="5239512"/>
            <a:ext cx="1508760" cy="315468"/>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528816" y="5266944"/>
            <a:ext cx="1399031"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rating / duration</a:t>
            </a:r>
          </a:p>
        </p:txBody>
      </p:sp>
      <p:sp>
        <p:nvSpPr>
          <p:cNvPr id="76" name="Rectangle 75"/>
          <p:cNvSpPr/>
          <p:nvPr/>
        </p:nvSpPr>
        <p:spPr>
          <a:xfrm>
            <a:off x="7982712" y="5239512"/>
            <a:ext cx="2743200" cy="315468"/>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037576" y="5266944"/>
            <a:ext cx="2633472"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Audience rating / length</a:t>
            </a:r>
          </a:p>
        </p:txBody>
      </p:sp>
      <p:sp>
        <p:nvSpPr>
          <p:cNvPr id="78" name="Rectangle 77"/>
          <p:cNvSpPr/>
          <p:nvPr/>
        </p:nvSpPr>
        <p:spPr>
          <a:xfrm>
            <a:off x="6473952" y="5577840"/>
            <a:ext cx="1508760" cy="315468"/>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528816" y="5605272"/>
            <a:ext cx="1399031"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listed_in</a:t>
            </a:r>
          </a:p>
        </p:txBody>
      </p:sp>
      <p:sp>
        <p:nvSpPr>
          <p:cNvPr id="80" name="Rectangle 79"/>
          <p:cNvSpPr/>
          <p:nvPr/>
        </p:nvSpPr>
        <p:spPr>
          <a:xfrm>
            <a:off x="7982712" y="5577840"/>
            <a:ext cx="2743200" cy="315468"/>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037576" y="5605272"/>
            <a:ext cx="2633472" cy="265176"/>
          </a:xfrm>
          <a:prstGeom prst="rect">
            <a:avLst/>
          </a:prstGeom>
          <a:noFill/>
        </p:spPr>
        <p:txBody>
          <a:bodyPr wrap="square" lIns="45720" rIns="45720" anchor="ctr">
            <a:spAutoFit/>
          </a:bodyPr>
          <a:lstStyle/>
          <a:p>
            <a:pPr>
              <a:spcAft>
                <a:spcPts val="0"/>
              </a:spcAft>
            </a:pPr>
            <a:r>
              <a:rPr sz="1000" b="0">
                <a:solidFill>
                  <a:srgbClr val="F5F5F5"/>
                </a:solidFill>
                <a:latin typeface="Aptos"/>
              </a:rPr>
              <a:t>Genre/category labels</a:t>
            </a:r>
          </a:p>
        </p:txBody>
      </p:sp>
      <p:sp>
        <p:nvSpPr>
          <p:cNvPr id="82" name="TextBox 81"/>
          <p:cNvSpPr txBox="1"/>
          <p:nvPr/>
        </p:nvSpPr>
        <p:spPr>
          <a:xfrm>
            <a:off x="502920" y="6537960"/>
            <a:ext cx="7772400" cy="164592"/>
          </a:xfrm>
          <a:prstGeom prst="rect">
            <a:avLst/>
          </a:prstGeom>
          <a:noFill/>
        </p:spPr>
        <p:txBody>
          <a:bodyPr wrap="square" lIns="45720" rIns="45720" anchor="t">
            <a:spAutoFit/>
          </a:bodyPr>
          <a:lstStyle/>
          <a:p>
            <a:pPr>
              <a:spcAft>
                <a:spcPts val="0"/>
              </a:spcAft>
            </a:pPr>
            <a:r>
              <a:rPr sz="800" b="0">
                <a:solidFill>
                  <a:srgbClr val="B8B8B8"/>
                </a:solidFill>
                <a:latin typeface="Aptos"/>
              </a:rPr>
              <a:t>ACADEMIC PROJECT  |  Dataset: netflix_titles.csv</a:t>
            </a:r>
          </a:p>
        </p:txBody>
      </p:sp>
      <p:sp>
        <p:nvSpPr>
          <p:cNvPr id="83" name="TextBox 82"/>
          <p:cNvSpPr txBox="1"/>
          <p:nvPr/>
        </p:nvSpPr>
        <p:spPr>
          <a:xfrm>
            <a:off x="10881360" y="6519672"/>
            <a:ext cx="777240" cy="201168"/>
          </a:xfrm>
          <a:prstGeom prst="rect">
            <a:avLst/>
          </a:prstGeom>
          <a:noFill/>
        </p:spPr>
        <p:txBody>
          <a:bodyPr wrap="square" lIns="45720" rIns="45720" anchor="t">
            <a:spAutoFit/>
          </a:bodyPr>
          <a:lstStyle/>
          <a:p>
            <a:pPr algn="r">
              <a:spcAft>
                <a:spcPts val="0"/>
              </a:spcAft>
            </a:pPr>
            <a:r>
              <a:rPr sz="900" b="1">
                <a:solidFill>
                  <a:srgbClr val="B8B8B8"/>
                </a:solidFill>
                <a:latin typeface="Aptos"/>
              </a:rPr>
              <a:t>02 / 07</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5029200" cy="256032"/>
          </a:xfrm>
          <a:prstGeom prst="rect">
            <a:avLst/>
          </a:prstGeom>
          <a:noFill/>
        </p:spPr>
        <p:txBody>
          <a:bodyPr wrap="square" lIns="45720" rIns="45720" anchor="t">
            <a:spAutoFit/>
          </a:bodyPr>
          <a:lstStyle/>
          <a:p>
            <a:pPr>
              <a:spcAft>
                <a:spcPts val="0"/>
              </a:spcAft>
            </a:pPr>
            <a:r>
              <a:rPr sz="1000" b="1">
                <a:solidFill>
                  <a:srgbClr val="E50914"/>
                </a:solidFill>
                <a:latin typeface="Aptos"/>
              </a:rPr>
              <a:t>NETFLIX DATA ANALYTICS</a:t>
            </a:r>
          </a:p>
        </p:txBody>
      </p:sp>
      <p:sp>
        <p:nvSpPr>
          <p:cNvPr id="3" name="TextBox 2"/>
          <p:cNvSpPr txBox="1"/>
          <p:nvPr/>
        </p:nvSpPr>
        <p:spPr>
          <a:xfrm>
            <a:off x="502920" y="566928"/>
            <a:ext cx="11155680" cy="530352"/>
          </a:xfrm>
          <a:prstGeom prst="rect">
            <a:avLst/>
          </a:prstGeom>
          <a:noFill/>
        </p:spPr>
        <p:txBody>
          <a:bodyPr wrap="square" lIns="45720" rIns="45720" anchor="t">
            <a:spAutoFit/>
          </a:bodyPr>
          <a:lstStyle/>
          <a:p>
            <a:pPr>
              <a:spcAft>
                <a:spcPts val="0"/>
              </a:spcAft>
            </a:pPr>
            <a:r>
              <a:rPr sz="2700" b="1">
                <a:solidFill>
                  <a:srgbClr val="F5F5F5"/>
                </a:solidFill>
                <a:latin typeface="Aptos"/>
              </a:rPr>
              <a:t>02  |  Data Cleaning &amp; Transformation</a:t>
            </a:r>
          </a:p>
        </p:txBody>
      </p:sp>
      <p:sp>
        <p:nvSpPr>
          <p:cNvPr id="4" name="Rectangle 3"/>
          <p:cNvSpPr/>
          <p:nvPr/>
        </p:nvSpPr>
        <p:spPr>
          <a:xfrm>
            <a:off x="502920" y="1197864"/>
            <a:ext cx="713232" cy="5029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06640" y="256032"/>
            <a:ext cx="4251960" cy="228600"/>
          </a:xfrm>
          <a:prstGeom prst="rect">
            <a:avLst/>
          </a:prstGeom>
          <a:noFill/>
        </p:spPr>
        <p:txBody>
          <a:bodyPr wrap="square" lIns="45720" rIns="45720" anchor="t">
            <a:spAutoFit/>
          </a:bodyPr>
          <a:lstStyle/>
          <a:p>
            <a:pPr algn="r">
              <a:spcAft>
                <a:spcPts val="0"/>
              </a:spcAft>
            </a:pPr>
            <a:r>
              <a:rPr sz="900" b="1">
                <a:solidFill>
                  <a:srgbClr val="B8B8B8"/>
                </a:solidFill>
                <a:latin typeface="Aptos"/>
              </a:rPr>
              <a:t>NETFLIX CATALOGUE • DATA-DRIVEN STORY</a:t>
            </a:r>
          </a:p>
        </p:txBody>
      </p:sp>
      <p:sp>
        <p:nvSpPr>
          <p:cNvPr id="6" name="TextBox 5"/>
          <p:cNvSpPr txBox="1"/>
          <p:nvPr/>
        </p:nvSpPr>
        <p:spPr>
          <a:xfrm>
            <a:off x="594360" y="1417320"/>
            <a:ext cx="10789920" cy="320040"/>
          </a:xfrm>
          <a:prstGeom prst="rect">
            <a:avLst/>
          </a:prstGeom>
          <a:noFill/>
        </p:spPr>
        <p:txBody>
          <a:bodyPr wrap="square" lIns="45720" rIns="45720" anchor="t">
            <a:spAutoFit/>
          </a:bodyPr>
          <a:lstStyle/>
          <a:p>
            <a:pPr>
              <a:spcAft>
                <a:spcPts val="0"/>
              </a:spcAft>
            </a:pPr>
            <a:r>
              <a:rPr sz="1200" b="1">
                <a:solidFill>
                  <a:srgbClr val="E50914"/>
                </a:solidFill>
                <a:latin typeface="Aptos"/>
              </a:rPr>
              <a:t>CLEANING SHOULD IMPROVE CONSISTENCY WITHOUT DESTROYING INFORMATION.</a:t>
            </a:r>
          </a:p>
        </p:txBody>
      </p:sp>
      <p:sp>
        <p:nvSpPr>
          <p:cNvPr id="7" name="Rounded Rectangle 6"/>
          <p:cNvSpPr/>
          <p:nvPr/>
        </p:nvSpPr>
        <p:spPr>
          <a:xfrm>
            <a:off x="621792" y="1874519"/>
            <a:ext cx="5349240" cy="98755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1792" y="1874519"/>
            <a:ext cx="566928" cy="9875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2185415"/>
            <a:ext cx="320040" cy="228600"/>
          </a:xfrm>
          <a:prstGeom prst="rect">
            <a:avLst/>
          </a:prstGeom>
          <a:noFill/>
        </p:spPr>
        <p:txBody>
          <a:bodyPr wrap="square" lIns="45720" rIns="45720" anchor="t">
            <a:spAutoFit/>
          </a:bodyPr>
          <a:lstStyle/>
          <a:p>
            <a:pPr>
              <a:spcAft>
                <a:spcPts val="0"/>
              </a:spcAft>
            </a:pPr>
            <a:r>
              <a:rPr sz="1300" b="1">
                <a:solidFill>
                  <a:srgbClr val="F5F5F5"/>
                </a:solidFill>
                <a:latin typeface="Aptos"/>
              </a:rPr>
              <a:t>01</a:t>
            </a:r>
          </a:p>
        </p:txBody>
      </p:sp>
      <p:sp>
        <p:nvSpPr>
          <p:cNvPr id="10" name="TextBox 9"/>
          <p:cNvSpPr txBox="1"/>
          <p:nvPr/>
        </p:nvSpPr>
        <p:spPr>
          <a:xfrm>
            <a:off x="1371600" y="2020824"/>
            <a:ext cx="4251960" cy="228600"/>
          </a:xfrm>
          <a:prstGeom prst="rect">
            <a:avLst/>
          </a:prstGeom>
          <a:noFill/>
        </p:spPr>
        <p:txBody>
          <a:bodyPr wrap="square" lIns="45720" rIns="45720" anchor="t">
            <a:spAutoFit/>
          </a:bodyPr>
          <a:lstStyle/>
          <a:p>
            <a:pPr>
              <a:spcAft>
                <a:spcPts val="0"/>
              </a:spcAft>
            </a:pPr>
            <a:r>
              <a:rPr sz="1200" b="1">
                <a:solidFill>
                  <a:srgbClr val="F5F5F5"/>
                </a:solidFill>
                <a:latin typeface="Aptos"/>
              </a:rPr>
              <a:t>TRIM TEXT</a:t>
            </a:r>
          </a:p>
        </p:txBody>
      </p:sp>
      <p:sp>
        <p:nvSpPr>
          <p:cNvPr id="11" name="TextBox 10"/>
          <p:cNvSpPr txBox="1"/>
          <p:nvPr/>
        </p:nvSpPr>
        <p:spPr>
          <a:xfrm>
            <a:off x="1371600" y="2322576"/>
            <a:ext cx="425196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Remove leading/trailing whitespace in text fields.</a:t>
            </a:r>
          </a:p>
        </p:txBody>
      </p:sp>
      <p:sp>
        <p:nvSpPr>
          <p:cNvPr id="12" name="Rounded Rectangle 11"/>
          <p:cNvSpPr/>
          <p:nvPr/>
        </p:nvSpPr>
        <p:spPr>
          <a:xfrm>
            <a:off x="6272783" y="1874519"/>
            <a:ext cx="5349240" cy="98755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72783" y="1874519"/>
            <a:ext cx="566928" cy="9875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91655" y="2185415"/>
            <a:ext cx="320040" cy="228600"/>
          </a:xfrm>
          <a:prstGeom prst="rect">
            <a:avLst/>
          </a:prstGeom>
          <a:noFill/>
        </p:spPr>
        <p:txBody>
          <a:bodyPr wrap="square" lIns="45720" rIns="45720" anchor="t">
            <a:spAutoFit/>
          </a:bodyPr>
          <a:lstStyle/>
          <a:p>
            <a:pPr>
              <a:spcAft>
                <a:spcPts val="0"/>
              </a:spcAft>
            </a:pPr>
            <a:r>
              <a:rPr sz="1300" b="1">
                <a:solidFill>
                  <a:srgbClr val="F5F5F5"/>
                </a:solidFill>
                <a:latin typeface="Aptos"/>
              </a:rPr>
              <a:t>02</a:t>
            </a:r>
          </a:p>
        </p:txBody>
      </p:sp>
      <p:sp>
        <p:nvSpPr>
          <p:cNvPr id="15" name="TextBox 14"/>
          <p:cNvSpPr txBox="1"/>
          <p:nvPr/>
        </p:nvSpPr>
        <p:spPr>
          <a:xfrm>
            <a:off x="7022592" y="2020824"/>
            <a:ext cx="4251960" cy="228600"/>
          </a:xfrm>
          <a:prstGeom prst="rect">
            <a:avLst/>
          </a:prstGeom>
          <a:noFill/>
        </p:spPr>
        <p:txBody>
          <a:bodyPr wrap="square" lIns="45720" rIns="45720" anchor="t">
            <a:spAutoFit/>
          </a:bodyPr>
          <a:lstStyle/>
          <a:p>
            <a:pPr>
              <a:spcAft>
                <a:spcPts val="0"/>
              </a:spcAft>
            </a:pPr>
            <a:r>
              <a:rPr sz="1200" b="1">
                <a:solidFill>
                  <a:srgbClr val="F5F5F5"/>
                </a:solidFill>
                <a:latin typeface="Aptos"/>
              </a:rPr>
              <a:t>PARSE DATES</a:t>
            </a:r>
          </a:p>
        </p:txBody>
      </p:sp>
      <p:sp>
        <p:nvSpPr>
          <p:cNvPr id="16" name="TextBox 15"/>
          <p:cNvSpPr txBox="1"/>
          <p:nvPr/>
        </p:nvSpPr>
        <p:spPr>
          <a:xfrm>
            <a:off x="7022592" y="2322576"/>
            <a:ext cx="425196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Convert date_added into a proper date field; preserve original values.</a:t>
            </a:r>
          </a:p>
        </p:txBody>
      </p:sp>
      <p:sp>
        <p:nvSpPr>
          <p:cNvPr id="17" name="Rounded Rectangle 16"/>
          <p:cNvSpPr/>
          <p:nvPr/>
        </p:nvSpPr>
        <p:spPr>
          <a:xfrm>
            <a:off x="621792" y="3108960"/>
            <a:ext cx="5349240" cy="98755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 y="3108960"/>
            <a:ext cx="566928" cy="98755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0664" y="3419856"/>
            <a:ext cx="320040" cy="228600"/>
          </a:xfrm>
          <a:prstGeom prst="rect">
            <a:avLst/>
          </a:prstGeom>
          <a:noFill/>
        </p:spPr>
        <p:txBody>
          <a:bodyPr wrap="square" lIns="45720" rIns="45720" anchor="t">
            <a:spAutoFit/>
          </a:bodyPr>
          <a:lstStyle/>
          <a:p>
            <a:pPr>
              <a:spcAft>
                <a:spcPts val="0"/>
              </a:spcAft>
            </a:pPr>
            <a:r>
              <a:rPr sz="1300" b="1">
                <a:solidFill>
                  <a:srgbClr val="F5F5F5"/>
                </a:solidFill>
                <a:latin typeface="Aptos"/>
              </a:rPr>
              <a:t>03</a:t>
            </a:r>
          </a:p>
        </p:txBody>
      </p:sp>
      <p:sp>
        <p:nvSpPr>
          <p:cNvPr id="20" name="TextBox 19"/>
          <p:cNvSpPr txBox="1"/>
          <p:nvPr/>
        </p:nvSpPr>
        <p:spPr>
          <a:xfrm>
            <a:off x="1371600" y="3255264"/>
            <a:ext cx="4251960" cy="228600"/>
          </a:xfrm>
          <a:prstGeom prst="rect">
            <a:avLst/>
          </a:prstGeom>
          <a:noFill/>
        </p:spPr>
        <p:txBody>
          <a:bodyPr wrap="square" lIns="45720" rIns="45720" anchor="t">
            <a:spAutoFit/>
          </a:bodyPr>
          <a:lstStyle/>
          <a:p>
            <a:pPr>
              <a:spcAft>
                <a:spcPts val="0"/>
              </a:spcAft>
            </a:pPr>
            <a:r>
              <a:rPr sz="1200" b="1">
                <a:solidFill>
                  <a:srgbClr val="F5F5F5"/>
                </a:solidFill>
                <a:latin typeface="Aptos"/>
              </a:rPr>
              <a:t>DURATION FEATURES</a:t>
            </a:r>
          </a:p>
        </p:txBody>
      </p:sp>
      <p:sp>
        <p:nvSpPr>
          <p:cNvPr id="21" name="TextBox 20"/>
          <p:cNvSpPr txBox="1"/>
          <p:nvPr/>
        </p:nvSpPr>
        <p:spPr>
          <a:xfrm>
            <a:off x="1371600" y="3557015"/>
            <a:ext cx="425196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Extract numeric length and unit (minutes / seasons).</a:t>
            </a:r>
          </a:p>
        </p:txBody>
      </p:sp>
      <p:sp>
        <p:nvSpPr>
          <p:cNvPr id="22" name="Rounded Rectangle 21"/>
          <p:cNvSpPr/>
          <p:nvPr/>
        </p:nvSpPr>
        <p:spPr>
          <a:xfrm>
            <a:off x="6272783" y="3108960"/>
            <a:ext cx="5349240" cy="98755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72783" y="3108960"/>
            <a:ext cx="566928" cy="987552"/>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91655" y="3419856"/>
            <a:ext cx="320040" cy="228600"/>
          </a:xfrm>
          <a:prstGeom prst="rect">
            <a:avLst/>
          </a:prstGeom>
          <a:noFill/>
        </p:spPr>
        <p:txBody>
          <a:bodyPr wrap="square" lIns="45720" rIns="45720" anchor="t">
            <a:spAutoFit/>
          </a:bodyPr>
          <a:lstStyle/>
          <a:p>
            <a:pPr>
              <a:spcAft>
                <a:spcPts val="0"/>
              </a:spcAft>
            </a:pPr>
            <a:r>
              <a:rPr sz="1300" b="1">
                <a:solidFill>
                  <a:srgbClr val="F5F5F5"/>
                </a:solidFill>
                <a:latin typeface="Aptos"/>
              </a:rPr>
              <a:t>04</a:t>
            </a:r>
          </a:p>
        </p:txBody>
      </p:sp>
      <p:sp>
        <p:nvSpPr>
          <p:cNvPr id="25" name="TextBox 24"/>
          <p:cNvSpPr txBox="1"/>
          <p:nvPr/>
        </p:nvSpPr>
        <p:spPr>
          <a:xfrm>
            <a:off x="7022592" y="3255264"/>
            <a:ext cx="4251960" cy="228600"/>
          </a:xfrm>
          <a:prstGeom prst="rect">
            <a:avLst/>
          </a:prstGeom>
          <a:noFill/>
        </p:spPr>
        <p:txBody>
          <a:bodyPr wrap="square" lIns="45720" rIns="45720" anchor="t">
            <a:spAutoFit/>
          </a:bodyPr>
          <a:lstStyle/>
          <a:p>
            <a:pPr>
              <a:spcAft>
                <a:spcPts val="0"/>
              </a:spcAft>
            </a:pPr>
            <a:r>
              <a:rPr sz="1200" b="1">
                <a:solidFill>
                  <a:srgbClr val="F5F5F5"/>
                </a:solidFill>
                <a:latin typeface="Aptos"/>
              </a:rPr>
              <a:t>MISSING VALUES</a:t>
            </a:r>
          </a:p>
        </p:txBody>
      </p:sp>
      <p:sp>
        <p:nvSpPr>
          <p:cNvPr id="26" name="TextBox 25"/>
          <p:cNvSpPr txBox="1"/>
          <p:nvPr/>
        </p:nvSpPr>
        <p:spPr>
          <a:xfrm>
            <a:off x="7022592" y="3557015"/>
            <a:ext cx="425196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Profile missingness; avoid blindly filling unknown cast, country or director.</a:t>
            </a:r>
          </a:p>
        </p:txBody>
      </p:sp>
      <p:sp>
        <p:nvSpPr>
          <p:cNvPr id="27" name="Rounded Rectangle 26"/>
          <p:cNvSpPr/>
          <p:nvPr/>
        </p:nvSpPr>
        <p:spPr>
          <a:xfrm>
            <a:off x="621792" y="4343400"/>
            <a:ext cx="5349240" cy="98755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1792" y="4343400"/>
            <a:ext cx="566928" cy="987552"/>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40664" y="4654296"/>
            <a:ext cx="320040" cy="228600"/>
          </a:xfrm>
          <a:prstGeom prst="rect">
            <a:avLst/>
          </a:prstGeom>
          <a:noFill/>
        </p:spPr>
        <p:txBody>
          <a:bodyPr wrap="square" lIns="45720" rIns="45720" anchor="t">
            <a:spAutoFit/>
          </a:bodyPr>
          <a:lstStyle/>
          <a:p>
            <a:pPr>
              <a:spcAft>
                <a:spcPts val="0"/>
              </a:spcAft>
            </a:pPr>
            <a:r>
              <a:rPr sz="1300" b="1">
                <a:solidFill>
                  <a:srgbClr val="F5F5F5"/>
                </a:solidFill>
                <a:latin typeface="Aptos"/>
              </a:rPr>
              <a:t>05</a:t>
            </a:r>
          </a:p>
        </p:txBody>
      </p:sp>
      <p:sp>
        <p:nvSpPr>
          <p:cNvPr id="30" name="TextBox 29"/>
          <p:cNvSpPr txBox="1"/>
          <p:nvPr/>
        </p:nvSpPr>
        <p:spPr>
          <a:xfrm>
            <a:off x="1371600" y="4489704"/>
            <a:ext cx="4251960" cy="228600"/>
          </a:xfrm>
          <a:prstGeom prst="rect">
            <a:avLst/>
          </a:prstGeom>
          <a:noFill/>
        </p:spPr>
        <p:txBody>
          <a:bodyPr wrap="square" lIns="45720" rIns="45720" anchor="t">
            <a:spAutoFit/>
          </a:bodyPr>
          <a:lstStyle/>
          <a:p>
            <a:pPr>
              <a:spcAft>
                <a:spcPts val="0"/>
              </a:spcAft>
            </a:pPr>
            <a:r>
              <a:rPr sz="1200" b="1">
                <a:solidFill>
                  <a:srgbClr val="F5F5F5"/>
                </a:solidFill>
                <a:latin typeface="Aptos"/>
              </a:rPr>
              <a:t>FLAG EXCEPTIONS</a:t>
            </a:r>
          </a:p>
        </p:txBody>
      </p:sp>
      <p:sp>
        <p:nvSpPr>
          <p:cNvPr id="31" name="TextBox 30"/>
          <p:cNvSpPr txBox="1"/>
          <p:nvPr/>
        </p:nvSpPr>
        <p:spPr>
          <a:xfrm>
            <a:off x="1371600" y="4791456"/>
            <a:ext cx="425196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Review 3 records where rating appears to contain a duration.</a:t>
            </a:r>
          </a:p>
        </p:txBody>
      </p:sp>
      <p:sp>
        <p:nvSpPr>
          <p:cNvPr id="32" name="Rounded Rectangle 31"/>
          <p:cNvSpPr/>
          <p:nvPr/>
        </p:nvSpPr>
        <p:spPr>
          <a:xfrm>
            <a:off x="6272783" y="4343400"/>
            <a:ext cx="5349240" cy="98755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72783" y="4343400"/>
            <a:ext cx="566928" cy="987552"/>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91655" y="4654296"/>
            <a:ext cx="320040" cy="228600"/>
          </a:xfrm>
          <a:prstGeom prst="rect">
            <a:avLst/>
          </a:prstGeom>
          <a:noFill/>
        </p:spPr>
        <p:txBody>
          <a:bodyPr wrap="square" lIns="45720" rIns="45720" anchor="t">
            <a:spAutoFit/>
          </a:bodyPr>
          <a:lstStyle/>
          <a:p>
            <a:pPr>
              <a:spcAft>
                <a:spcPts val="0"/>
              </a:spcAft>
            </a:pPr>
            <a:r>
              <a:rPr sz="1300" b="1">
                <a:solidFill>
                  <a:srgbClr val="F5F5F5"/>
                </a:solidFill>
                <a:latin typeface="Aptos"/>
              </a:rPr>
              <a:t>06</a:t>
            </a:r>
          </a:p>
        </p:txBody>
      </p:sp>
      <p:sp>
        <p:nvSpPr>
          <p:cNvPr id="35" name="TextBox 34"/>
          <p:cNvSpPr txBox="1"/>
          <p:nvPr/>
        </p:nvSpPr>
        <p:spPr>
          <a:xfrm>
            <a:off x="7022592" y="4489704"/>
            <a:ext cx="4251960" cy="228600"/>
          </a:xfrm>
          <a:prstGeom prst="rect">
            <a:avLst/>
          </a:prstGeom>
          <a:noFill/>
        </p:spPr>
        <p:txBody>
          <a:bodyPr wrap="square" lIns="45720" rIns="45720" anchor="t">
            <a:spAutoFit/>
          </a:bodyPr>
          <a:lstStyle/>
          <a:p>
            <a:pPr>
              <a:spcAft>
                <a:spcPts val="0"/>
              </a:spcAft>
            </a:pPr>
            <a:r>
              <a:rPr sz="1200" b="1">
                <a:solidFill>
                  <a:srgbClr val="F5F5F5"/>
                </a:solidFill>
                <a:latin typeface="Aptos"/>
              </a:rPr>
              <a:t>VALIDATE</a:t>
            </a:r>
          </a:p>
        </p:txBody>
      </p:sp>
      <p:sp>
        <p:nvSpPr>
          <p:cNvPr id="36" name="TextBox 35"/>
          <p:cNvSpPr txBox="1"/>
          <p:nvPr/>
        </p:nvSpPr>
        <p:spPr>
          <a:xfrm>
            <a:off x="7022592" y="4791456"/>
            <a:ext cx="425196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Recheck types, missing values, duplicates and row counts.</a:t>
            </a:r>
          </a:p>
        </p:txBody>
      </p:sp>
      <p:sp>
        <p:nvSpPr>
          <p:cNvPr id="37" name="Rounded Rectangle 36"/>
          <p:cNvSpPr/>
          <p:nvPr/>
        </p:nvSpPr>
        <p:spPr>
          <a:xfrm>
            <a:off x="621792" y="5669280"/>
            <a:ext cx="11000232" cy="502920"/>
          </a:xfrm>
          <a:prstGeom prst="roundRect">
            <a:avLst>
              <a:gd name="adj" fmla="val 12000"/>
            </a:avLst>
          </a:prstGeom>
          <a:solidFill>
            <a:srgbClr val="30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 y="5797296"/>
            <a:ext cx="10607040" cy="228600"/>
          </a:xfrm>
          <a:prstGeom prst="rect">
            <a:avLst/>
          </a:prstGeom>
          <a:noFill/>
        </p:spPr>
        <p:txBody>
          <a:bodyPr wrap="square" lIns="45720" rIns="45720" anchor="t">
            <a:spAutoFit/>
          </a:bodyPr>
          <a:lstStyle/>
          <a:p>
            <a:pPr>
              <a:spcAft>
                <a:spcPts val="0"/>
              </a:spcAft>
            </a:pPr>
            <a:r>
              <a:rPr sz="1100" b="1">
                <a:solidFill>
                  <a:srgbClr val="F5F5F5"/>
                </a:solidFill>
                <a:latin typeface="Aptos"/>
              </a:rPr>
              <a:t>Important: preserve the raw file; document each transformation and compare before/after quality metrics.</a:t>
            </a:r>
          </a:p>
        </p:txBody>
      </p:sp>
      <p:sp>
        <p:nvSpPr>
          <p:cNvPr id="39" name="TextBox 38"/>
          <p:cNvSpPr txBox="1"/>
          <p:nvPr/>
        </p:nvSpPr>
        <p:spPr>
          <a:xfrm>
            <a:off x="502920" y="6537960"/>
            <a:ext cx="7772400" cy="164592"/>
          </a:xfrm>
          <a:prstGeom prst="rect">
            <a:avLst/>
          </a:prstGeom>
          <a:noFill/>
        </p:spPr>
        <p:txBody>
          <a:bodyPr wrap="square" lIns="45720" rIns="45720" anchor="t">
            <a:spAutoFit/>
          </a:bodyPr>
          <a:lstStyle/>
          <a:p>
            <a:pPr>
              <a:spcAft>
                <a:spcPts val="0"/>
              </a:spcAft>
            </a:pPr>
            <a:r>
              <a:rPr sz="800" b="0">
                <a:solidFill>
                  <a:srgbClr val="B8B8B8"/>
                </a:solidFill>
                <a:latin typeface="Aptos"/>
              </a:rPr>
              <a:t>ACADEMIC PROJECT  |  Dataset: netflix_titles.csv</a:t>
            </a:r>
          </a:p>
        </p:txBody>
      </p:sp>
      <p:sp>
        <p:nvSpPr>
          <p:cNvPr id="40" name="TextBox 39"/>
          <p:cNvSpPr txBox="1"/>
          <p:nvPr/>
        </p:nvSpPr>
        <p:spPr>
          <a:xfrm>
            <a:off x="10881360" y="6519672"/>
            <a:ext cx="777240" cy="201168"/>
          </a:xfrm>
          <a:prstGeom prst="rect">
            <a:avLst/>
          </a:prstGeom>
          <a:noFill/>
        </p:spPr>
        <p:txBody>
          <a:bodyPr wrap="square" lIns="45720" rIns="45720" anchor="t">
            <a:spAutoFit/>
          </a:bodyPr>
          <a:lstStyle/>
          <a:p>
            <a:pPr algn="r">
              <a:spcAft>
                <a:spcPts val="0"/>
              </a:spcAft>
            </a:pPr>
            <a:r>
              <a:rPr sz="900" b="1">
                <a:solidFill>
                  <a:srgbClr val="B8B8B8"/>
                </a:solidFill>
                <a:latin typeface="Aptos"/>
              </a:rPr>
              <a:t>03 / 07</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5029200" cy="256032"/>
          </a:xfrm>
          <a:prstGeom prst="rect">
            <a:avLst/>
          </a:prstGeom>
          <a:noFill/>
        </p:spPr>
        <p:txBody>
          <a:bodyPr wrap="square" lIns="45720" rIns="45720" anchor="t">
            <a:spAutoFit/>
          </a:bodyPr>
          <a:lstStyle/>
          <a:p>
            <a:pPr>
              <a:spcAft>
                <a:spcPts val="0"/>
              </a:spcAft>
            </a:pPr>
            <a:r>
              <a:rPr sz="1000" b="1">
                <a:solidFill>
                  <a:srgbClr val="E50914"/>
                </a:solidFill>
                <a:latin typeface="Aptos"/>
              </a:rPr>
              <a:t>NETFLIX DATA ANALYTICS</a:t>
            </a:r>
          </a:p>
        </p:txBody>
      </p:sp>
      <p:sp>
        <p:nvSpPr>
          <p:cNvPr id="3" name="TextBox 2"/>
          <p:cNvSpPr txBox="1"/>
          <p:nvPr/>
        </p:nvSpPr>
        <p:spPr>
          <a:xfrm>
            <a:off x="502920" y="566928"/>
            <a:ext cx="11155680" cy="530352"/>
          </a:xfrm>
          <a:prstGeom prst="rect">
            <a:avLst/>
          </a:prstGeom>
          <a:noFill/>
        </p:spPr>
        <p:txBody>
          <a:bodyPr wrap="square" lIns="45720" rIns="45720" anchor="t">
            <a:spAutoFit/>
          </a:bodyPr>
          <a:lstStyle/>
          <a:p>
            <a:pPr>
              <a:spcAft>
                <a:spcPts val="0"/>
              </a:spcAft>
            </a:pPr>
            <a:r>
              <a:rPr sz="2700" b="1">
                <a:solidFill>
                  <a:srgbClr val="F5F5F5"/>
                </a:solidFill>
                <a:latin typeface="Aptos"/>
              </a:rPr>
              <a:t>03  |  Final Dataset: Analysis-Ready Structure</a:t>
            </a:r>
          </a:p>
        </p:txBody>
      </p:sp>
      <p:sp>
        <p:nvSpPr>
          <p:cNvPr id="4" name="Rectangle 3"/>
          <p:cNvSpPr/>
          <p:nvPr/>
        </p:nvSpPr>
        <p:spPr>
          <a:xfrm>
            <a:off x="502920" y="1197864"/>
            <a:ext cx="713232" cy="5029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06640" y="256032"/>
            <a:ext cx="4251960" cy="228600"/>
          </a:xfrm>
          <a:prstGeom prst="rect">
            <a:avLst/>
          </a:prstGeom>
          <a:noFill/>
        </p:spPr>
        <p:txBody>
          <a:bodyPr wrap="square" lIns="45720" rIns="45720" anchor="t">
            <a:spAutoFit/>
          </a:bodyPr>
          <a:lstStyle/>
          <a:p>
            <a:pPr algn="r">
              <a:spcAft>
                <a:spcPts val="0"/>
              </a:spcAft>
            </a:pPr>
            <a:r>
              <a:rPr sz="900" b="1">
                <a:solidFill>
                  <a:srgbClr val="B8B8B8"/>
                </a:solidFill>
                <a:latin typeface="Aptos"/>
              </a:rPr>
              <a:t>NETFLIX CATALOGUE • DATA-DRIVEN STORY</a:t>
            </a:r>
          </a:p>
        </p:txBody>
      </p:sp>
      <p:sp>
        <p:nvSpPr>
          <p:cNvPr id="6" name="Rounded Rectangle 5"/>
          <p:cNvSpPr/>
          <p:nvPr/>
        </p:nvSpPr>
        <p:spPr>
          <a:xfrm>
            <a:off x="594360" y="1508760"/>
            <a:ext cx="2743200" cy="1115568"/>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508760"/>
            <a:ext cx="64008" cy="1115568"/>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645919"/>
            <a:ext cx="2423160" cy="228600"/>
          </a:xfrm>
          <a:prstGeom prst="rect">
            <a:avLst/>
          </a:prstGeom>
          <a:noFill/>
        </p:spPr>
        <p:txBody>
          <a:bodyPr wrap="square" lIns="45720" rIns="45720" anchor="t">
            <a:spAutoFit/>
          </a:bodyPr>
          <a:lstStyle/>
          <a:p>
            <a:pPr>
              <a:spcAft>
                <a:spcPts val="0"/>
              </a:spcAft>
            </a:pPr>
            <a:r>
              <a:rPr sz="900" b="1">
                <a:solidFill>
                  <a:srgbClr val="B8B8B8"/>
                </a:solidFill>
                <a:latin typeface="Aptos"/>
              </a:rPr>
              <a:t>BASELINE RECORDS</a:t>
            </a:r>
          </a:p>
        </p:txBody>
      </p:sp>
      <p:sp>
        <p:nvSpPr>
          <p:cNvPr id="9" name="TextBox 8"/>
          <p:cNvSpPr txBox="1"/>
          <p:nvPr/>
        </p:nvSpPr>
        <p:spPr>
          <a:xfrm>
            <a:off x="777240" y="1947672"/>
            <a:ext cx="2423160" cy="438912"/>
          </a:xfrm>
          <a:prstGeom prst="rect">
            <a:avLst/>
          </a:prstGeom>
          <a:noFill/>
        </p:spPr>
        <p:txBody>
          <a:bodyPr wrap="square" lIns="45720" rIns="45720" anchor="t">
            <a:spAutoFit/>
          </a:bodyPr>
          <a:lstStyle/>
          <a:p>
            <a:pPr>
              <a:spcAft>
                <a:spcPts val="0"/>
              </a:spcAft>
            </a:pPr>
            <a:r>
              <a:rPr sz="2500" b="1">
                <a:solidFill>
                  <a:srgbClr val="F5F5F5"/>
                </a:solidFill>
                <a:latin typeface="Aptos"/>
              </a:rPr>
              <a:t>8,807</a:t>
            </a:r>
          </a:p>
        </p:txBody>
      </p:sp>
      <p:sp>
        <p:nvSpPr>
          <p:cNvPr id="10" name="TextBox 9"/>
          <p:cNvSpPr txBox="1"/>
          <p:nvPr/>
        </p:nvSpPr>
        <p:spPr>
          <a:xfrm>
            <a:off x="777240" y="2286000"/>
            <a:ext cx="2423160" cy="228600"/>
          </a:xfrm>
          <a:prstGeom prst="rect">
            <a:avLst/>
          </a:prstGeom>
          <a:noFill/>
        </p:spPr>
        <p:txBody>
          <a:bodyPr wrap="square" lIns="45720" rIns="45720" anchor="t">
            <a:spAutoFit/>
          </a:bodyPr>
          <a:lstStyle/>
          <a:p>
            <a:pPr>
              <a:spcAft>
                <a:spcPts val="0"/>
              </a:spcAft>
            </a:pPr>
            <a:r>
              <a:rPr sz="900" b="0">
                <a:solidFill>
                  <a:srgbClr val="B8B8B8"/>
                </a:solidFill>
                <a:latin typeface="Aptos"/>
              </a:rPr>
              <a:t>Retain rows unless justified</a:t>
            </a:r>
          </a:p>
        </p:txBody>
      </p:sp>
      <p:sp>
        <p:nvSpPr>
          <p:cNvPr id="11" name="Rounded Rectangle 10"/>
          <p:cNvSpPr/>
          <p:nvPr/>
        </p:nvSpPr>
        <p:spPr>
          <a:xfrm>
            <a:off x="3493008" y="1508760"/>
            <a:ext cx="2743200" cy="1115568"/>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93008" y="1508760"/>
            <a:ext cx="64008" cy="1115568"/>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75887" y="1645919"/>
            <a:ext cx="2423160" cy="228600"/>
          </a:xfrm>
          <a:prstGeom prst="rect">
            <a:avLst/>
          </a:prstGeom>
          <a:noFill/>
        </p:spPr>
        <p:txBody>
          <a:bodyPr wrap="square" lIns="45720" rIns="45720" anchor="t">
            <a:spAutoFit/>
          </a:bodyPr>
          <a:lstStyle/>
          <a:p>
            <a:pPr>
              <a:spcAft>
                <a:spcPts val="0"/>
              </a:spcAft>
            </a:pPr>
            <a:r>
              <a:rPr sz="900" b="1">
                <a:solidFill>
                  <a:srgbClr val="B8B8B8"/>
                </a:solidFill>
                <a:latin typeface="Aptos"/>
              </a:rPr>
              <a:t>ORIGINAL FIELDS</a:t>
            </a:r>
          </a:p>
        </p:txBody>
      </p:sp>
      <p:sp>
        <p:nvSpPr>
          <p:cNvPr id="14" name="TextBox 13"/>
          <p:cNvSpPr txBox="1"/>
          <p:nvPr/>
        </p:nvSpPr>
        <p:spPr>
          <a:xfrm>
            <a:off x="3675887" y="1947672"/>
            <a:ext cx="2423160" cy="438912"/>
          </a:xfrm>
          <a:prstGeom prst="rect">
            <a:avLst/>
          </a:prstGeom>
          <a:noFill/>
        </p:spPr>
        <p:txBody>
          <a:bodyPr wrap="square" lIns="45720" rIns="45720" anchor="t">
            <a:spAutoFit/>
          </a:bodyPr>
          <a:lstStyle/>
          <a:p>
            <a:pPr>
              <a:spcAft>
                <a:spcPts val="0"/>
              </a:spcAft>
            </a:pPr>
            <a:r>
              <a:rPr sz="2500" b="1">
                <a:solidFill>
                  <a:srgbClr val="F5F5F5"/>
                </a:solidFill>
                <a:latin typeface="Aptos"/>
              </a:rPr>
              <a:t>12</a:t>
            </a:r>
          </a:p>
        </p:txBody>
      </p:sp>
      <p:sp>
        <p:nvSpPr>
          <p:cNvPr id="15" name="TextBox 14"/>
          <p:cNvSpPr txBox="1"/>
          <p:nvPr/>
        </p:nvSpPr>
        <p:spPr>
          <a:xfrm>
            <a:off x="3675887" y="2286000"/>
            <a:ext cx="2423160" cy="228600"/>
          </a:xfrm>
          <a:prstGeom prst="rect">
            <a:avLst/>
          </a:prstGeom>
          <a:noFill/>
        </p:spPr>
        <p:txBody>
          <a:bodyPr wrap="square" lIns="45720" rIns="45720" anchor="t">
            <a:spAutoFit/>
          </a:bodyPr>
          <a:lstStyle/>
          <a:p>
            <a:pPr>
              <a:spcAft>
                <a:spcPts val="0"/>
              </a:spcAft>
            </a:pPr>
            <a:r>
              <a:rPr sz="900" b="0">
                <a:solidFill>
                  <a:srgbClr val="B8B8B8"/>
                </a:solidFill>
                <a:latin typeface="Aptos"/>
              </a:rPr>
              <a:t>Preserve source columns</a:t>
            </a:r>
          </a:p>
        </p:txBody>
      </p:sp>
      <p:sp>
        <p:nvSpPr>
          <p:cNvPr id="16" name="Rounded Rectangle 15"/>
          <p:cNvSpPr/>
          <p:nvPr/>
        </p:nvSpPr>
        <p:spPr>
          <a:xfrm>
            <a:off x="6391656" y="1508760"/>
            <a:ext cx="2514600" cy="1115568"/>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91656" y="1508760"/>
            <a:ext cx="64008" cy="1115568"/>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74536" y="1645919"/>
            <a:ext cx="2194560" cy="228600"/>
          </a:xfrm>
          <a:prstGeom prst="rect">
            <a:avLst/>
          </a:prstGeom>
          <a:noFill/>
        </p:spPr>
        <p:txBody>
          <a:bodyPr wrap="square" lIns="45720" rIns="45720" anchor="t">
            <a:spAutoFit/>
          </a:bodyPr>
          <a:lstStyle/>
          <a:p>
            <a:pPr>
              <a:spcAft>
                <a:spcPts val="0"/>
              </a:spcAft>
            </a:pPr>
            <a:r>
              <a:rPr sz="900" b="1">
                <a:solidFill>
                  <a:srgbClr val="B8B8B8"/>
                </a:solidFill>
                <a:latin typeface="Aptos"/>
              </a:rPr>
              <a:t>FULL-ROW DUPLICATES</a:t>
            </a:r>
          </a:p>
        </p:txBody>
      </p:sp>
      <p:sp>
        <p:nvSpPr>
          <p:cNvPr id="19" name="TextBox 18"/>
          <p:cNvSpPr txBox="1"/>
          <p:nvPr/>
        </p:nvSpPr>
        <p:spPr>
          <a:xfrm>
            <a:off x="6574536" y="1947672"/>
            <a:ext cx="2194560" cy="438912"/>
          </a:xfrm>
          <a:prstGeom prst="rect">
            <a:avLst/>
          </a:prstGeom>
          <a:noFill/>
        </p:spPr>
        <p:txBody>
          <a:bodyPr wrap="square" lIns="45720" rIns="45720" anchor="t">
            <a:spAutoFit/>
          </a:bodyPr>
          <a:lstStyle/>
          <a:p>
            <a:pPr>
              <a:spcAft>
                <a:spcPts val="0"/>
              </a:spcAft>
            </a:pPr>
            <a:r>
              <a:rPr sz="2500" b="1">
                <a:solidFill>
                  <a:srgbClr val="F5F5F5"/>
                </a:solidFill>
                <a:latin typeface="Aptos"/>
              </a:rPr>
              <a:t>0</a:t>
            </a:r>
          </a:p>
        </p:txBody>
      </p:sp>
      <p:sp>
        <p:nvSpPr>
          <p:cNvPr id="20" name="TextBox 19"/>
          <p:cNvSpPr txBox="1"/>
          <p:nvPr/>
        </p:nvSpPr>
        <p:spPr>
          <a:xfrm>
            <a:off x="6574536" y="2286000"/>
            <a:ext cx="2194560" cy="228600"/>
          </a:xfrm>
          <a:prstGeom prst="rect">
            <a:avLst/>
          </a:prstGeom>
          <a:noFill/>
        </p:spPr>
        <p:txBody>
          <a:bodyPr wrap="square" lIns="45720" rIns="45720" anchor="t">
            <a:spAutoFit/>
          </a:bodyPr>
          <a:lstStyle/>
          <a:p>
            <a:pPr>
              <a:spcAft>
                <a:spcPts val="0"/>
              </a:spcAft>
            </a:pPr>
            <a:r>
              <a:rPr sz="900" b="0">
                <a:solidFill>
                  <a:srgbClr val="B8B8B8"/>
                </a:solidFill>
                <a:latin typeface="Aptos"/>
              </a:rPr>
              <a:t>Baseline validation</a:t>
            </a:r>
          </a:p>
        </p:txBody>
      </p:sp>
      <p:sp>
        <p:nvSpPr>
          <p:cNvPr id="21" name="Rounded Rectangle 20"/>
          <p:cNvSpPr/>
          <p:nvPr/>
        </p:nvSpPr>
        <p:spPr>
          <a:xfrm>
            <a:off x="9052560" y="1508760"/>
            <a:ext cx="2514600" cy="1115568"/>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52560" y="1508760"/>
            <a:ext cx="64008" cy="1115568"/>
          </a:xfrm>
          <a:prstGeom prst="rect">
            <a:avLst/>
          </a:prstGeom>
          <a:solidFill>
            <a:srgbClr val="F5B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35440" y="1645919"/>
            <a:ext cx="2194560" cy="228600"/>
          </a:xfrm>
          <a:prstGeom prst="rect">
            <a:avLst/>
          </a:prstGeom>
          <a:noFill/>
        </p:spPr>
        <p:txBody>
          <a:bodyPr wrap="square" lIns="45720" rIns="45720" anchor="t">
            <a:spAutoFit/>
          </a:bodyPr>
          <a:lstStyle/>
          <a:p>
            <a:pPr>
              <a:spcAft>
                <a:spcPts val="0"/>
              </a:spcAft>
            </a:pPr>
            <a:r>
              <a:rPr sz="900" b="1">
                <a:solidFill>
                  <a:srgbClr val="B8B8B8"/>
                </a:solidFill>
                <a:latin typeface="Aptos"/>
              </a:rPr>
              <a:t>DERIVED FEATURES</a:t>
            </a:r>
          </a:p>
        </p:txBody>
      </p:sp>
      <p:sp>
        <p:nvSpPr>
          <p:cNvPr id="24" name="TextBox 23"/>
          <p:cNvSpPr txBox="1"/>
          <p:nvPr/>
        </p:nvSpPr>
        <p:spPr>
          <a:xfrm>
            <a:off x="9235440" y="1947672"/>
            <a:ext cx="2194560" cy="438912"/>
          </a:xfrm>
          <a:prstGeom prst="rect">
            <a:avLst/>
          </a:prstGeom>
          <a:noFill/>
        </p:spPr>
        <p:txBody>
          <a:bodyPr wrap="square" lIns="45720" rIns="45720" anchor="t">
            <a:spAutoFit/>
          </a:bodyPr>
          <a:lstStyle/>
          <a:p>
            <a:pPr>
              <a:spcAft>
                <a:spcPts val="0"/>
              </a:spcAft>
            </a:pPr>
            <a:r>
              <a:rPr sz="2500" b="1">
                <a:solidFill>
                  <a:srgbClr val="F5F5F5"/>
                </a:solidFill>
                <a:latin typeface="Aptos"/>
              </a:rPr>
              <a:t>2</a:t>
            </a:r>
          </a:p>
        </p:txBody>
      </p:sp>
      <p:sp>
        <p:nvSpPr>
          <p:cNvPr id="25" name="TextBox 24"/>
          <p:cNvSpPr txBox="1"/>
          <p:nvPr/>
        </p:nvSpPr>
        <p:spPr>
          <a:xfrm>
            <a:off x="9235440" y="2286000"/>
            <a:ext cx="2194560" cy="228600"/>
          </a:xfrm>
          <a:prstGeom prst="rect">
            <a:avLst/>
          </a:prstGeom>
          <a:noFill/>
        </p:spPr>
        <p:txBody>
          <a:bodyPr wrap="square" lIns="45720" rIns="45720" anchor="t">
            <a:spAutoFit/>
          </a:bodyPr>
          <a:lstStyle/>
          <a:p>
            <a:pPr>
              <a:spcAft>
                <a:spcPts val="0"/>
              </a:spcAft>
            </a:pPr>
            <a:r>
              <a:rPr sz="900" b="0">
                <a:solidFill>
                  <a:srgbClr val="B8B8B8"/>
                </a:solidFill>
                <a:latin typeface="Aptos"/>
              </a:rPr>
              <a:t>Date + duration fields</a:t>
            </a:r>
          </a:p>
        </p:txBody>
      </p:sp>
      <p:sp>
        <p:nvSpPr>
          <p:cNvPr id="26" name="Rounded Rectangle 25"/>
          <p:cNvSpPr/>
          <p:nvPr/>
        </p:nvSpPr>
        <p:spPr>
          <a:xfrm>
            <a:off x="594360" y="2907792"/>
            <a:ext cx="6537960" cy="306324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3127248"/>
            <a:ext cx="5394960" cy="274320"/>
          </a:xfrm>
          <a:prstGeom prst="rect">
            <a:avLst/>
          </a:prstGeom>
          <a:noFill/>
        </p:spPr>
        <p:txBody>
          <a:bodyPr wrap="square" lIns="45720" rIns="45720" anchor="t">
            <a:spAutoFit/>
          </a:bodyPr>
          <a:lstStyle/>
          <a:p>
            <a:pPr>
              <a:spcAft>
                <a:spcPts val="0"/>
              </a:spcAft>
            </a:pPr>
            <a:r>
              <a:rPr sz="1200" b="1">
                <a:solidFill>
                  <a:srgbClr val="E50914"/>
                </a:solidFill>
                <a:latin typeface="Aptos"/>
              </a:rPr>
              <a:t>SUGGESTED FINAL SCHEMA</a:t>
            </a:r>
          </a:p>
        </p:txBody>
      </p:sp>
      <p:sp>
        <p:nvSpPr>
          <p:cNvPr id="28" name="Rectangle 27"/>
          <p:cNvSpPr/>
          <p:nvPr/>
        </p:nvSpPr>
        <p:spPr>
          <a:xfrm>
            <a:off x="868680" y="3493008"/>
            <a:ext cx="1874519" cy="288036"/>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3544" y="3520439"/>
            <a:ext cx="1764791" cy="237744"/>
          </a:xfrm>
          <a:prstGeom prst="rect">
            <a:avLst/>
          </a:prstGeom>
          <a:noFill/>
        </p:spPr>
        <p:txBody>
          <a:bodyPr wrap="square" lIns="45720" rIns="45720" anchor="ctr">
            <a:spAutoFit/>
          </a:bodyPr>
          <a:lstStyle/>
          <a:p>
            <a:pPr>
              <a:spcAft>
                <a:spcPts val="0"/>
              </a:spcAft>
            </a:pPr>
            <a:r>
              <a:rPr sz="1000" b="1">
                <a:solidFill>
                  <a:srgbClr val="F5F5F5"/>
                </a:solidFill>
                <a:latin typeface="Aptos"/>
              </a:rPr>
              <a:t>Original field</a:t>
            </a:r>
          </a:p>
        </p:txBody>
      </p:sp>
      <p:sp>
        <p:nvSpPr>
          <p:cNvPr id="30" name="Rectangle 29"/>
          <p:cNvSpPr/>
          <p:nvPr/>
        </p:nvSpPr>
        <p:spPr>
          <a:xfrm>
            <a:off x="2743200" y="3493008"/>
            <a:ext cx="3977639" cy="288036"/>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98064" y="3520439"/>
            <a:ext cx="3867911" cy="237744"/>
          </a:xfrm>
          <a:prstGeom prst="rect">
            <a:avLst/>
          </a:prstGeom>
          <a:noFill/>
        </p:spPr>
        <p:txBody>
          <a:bodyPr wrap="square" lIns="45720" rIns="45720" anchor="ctr">
            <a:spAutoFit/>
          </a:bodyPr>
          <a:lstStyle/>
          <a:p>
            <a:pPr>
              <a:spcAft>
                <a:spcPts val="0"/>
              </a:spcAft>
            </a:pPr>
            <a:r>
              <a:rPr sz="1000" b="1">
                <a:solidFill>
                  <a:srgbClr val="F5F5F5"/>
                </a:solidFill>
                <a:latin typeface="Aptos"/>
              </a:rPr>
              <a:t>Use in analysis</a:t>
            </a:r>
          </a:p>
        </p:txBody>
      </p:sp>
      <p:sp>
        <p:nvSpPr>
          <p:cNvPr id="32" name="Rectangle 31"/>
          <p:cNvSpPr/>
          <p:nvPr/>
        </p:nvSpPr>
        <p:spPr>
          <a:xfrm>
            <a:off x="868680" y="3803904"/>
            <a:ext cx="187451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3544" y="3831336"/>
            <a:ext cx="176479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type</a:t>
            </a:r>
          </a:p>
        </p:txBody>
      </p:sp>
      <p:sp>
        <p:nvSpPr>
          <p:cNvPr id="34" name="Rectangle 33"/>
          <p:cNvSpPr/>
          <p:nvPr/>
        </p:nvSpPr>
        <p:spPr>
          <a:xfrm>
            <a:off x="2743200" y="3803904"/>
            <a:ext cx="397763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98064" y="3831336"/>
            <a:ext cx="386791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Compare Movies vs TV Shows</a:t>
            </a:r>
          </a:p>
        </p:txBody>
      </p:sp>
      <p:sp>
        <p:nvSpPr>
          <p:cNvPr id="36" name="Rectangle 35"/>
          <p:cNvSpPr/>
          <p:nvPr/>
        </p:nvSpPr>
        <p:spPr>
          <a:xfrm>
            <a:off x="868680" y="4114800"/>
            <a:ext cx="1874519" cy="288036"/>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3544" y="4142232"/>
            <a:ext cx="176479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release_year</a:t>
            </a:r>
          </a:p>
        </p:txBody>
      </p:sp>
      <p:sp>
        <p:nvSpPr>
          <p:cNvPr id="38" name="Rectangle 37"/>
          <p:cNvSpPr/>
          <p:nvPr/>
        </p:nvSpPr>
        <p:spPr>
          <a:xfrm>
            <a:off x="2743200" y="4114800"/>
            <a:ext cx="3977639" cy="288036"/>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798064" y="4142232"/>
            <a:ext cx="386791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Explore release-year patterns</a:t>
            </a:r>
          </a:p>
        </p:txBody>
      </p:sp>
      <p:sp>
        <p:nvSpPr>
          <p:cNvPr id="40" name="Rectangle 39"/>
          <p:cNvSpPr/>
          <p:nvPr/>
        </p:nvSpPr>
        <p:spPr>
          <a:xfrm>
            <a:off x="868680" y="4425696"/>
            <a:ext cx="187451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23544" y="4453128"/>
            <a:ext cx="176479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date_added</a:t>
            </a:r>
          </a:p>
        </p:txBody>
      </p:sp>
      <p:sp>
        <p:nvSpPr>
          <p:cNvPr id="42" name="Rectangle 41"/>
          <p:cNvSpPr/>
          <p:nvPr/>
        </p:nvSpPr>
        <p:spPr>
          <a:xfrm>
            <a:off x="2743200" y="4425696"/>
            <a:ext cx="397763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8064" y="4453128"/>
            <a:ext cx="386791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Catalogue addition trend</a:t>
            </a:r>
          </a:p>
        </p:txBody>
      </p:sp>
      <p:sp>
        <p:nvSpPr>
          <p:cNvPr id="44" name="Rectangle 43"/>
          <p:cNvSpPr/>
          <p:nvPr/>
        </p:nvSpPr>
        <p:spPr>
          <a:xfrm>
            <a:off x="868680" y="4736592"/>
            <a:ext cx="1874519" cy="288036"/>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23544" y="4764024"/>
            <a:ext cx="176479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country</a:t>
            </a:r>
          </a:p>
        </p:txBody>
      </p:sp>
      <p:sp>
        <p:nvSpPr>
          <p:cNvPr id="46" name="Rectangle 45"/>
          <p:cNvSpPr/>
          <p:nvPr/>
        </p:nvSpPr>
        <p:spPr>
          <a:xfrm>
            <a:off x="2743200" y="4736592"/>
            <a:ext cx="3977639" cy="288036"/>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98064" y="4764024"/>
            <a:ext cx="386791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Geographic catalogue distribution</a:t>
            </a:r>
          </a:p>
        </p:txBody>
      </p:sp>
      <p:sp>
        <p:nvSpPr>
          <p:cNvPr id="48" name="Rectangle 47"/>
          <p:cNvSpPr/>
          <p:nvPr/>
        </p:nvSpPr>
        <p:spPr>
          <a:xfrm>
            <a:off x="868680" y="5047488"/>
            <a:ext cx="187451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23544" y="5074920"/>
            <a:ext cx="176479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listed_in</a:t>
            </a:r>
          </a:p>
        </p:txBody>
      </p:sp>
      <p:sp>
        <p:nvSpPr>
          <p:cNvPr id="50" name="Rectangle 49"/>
          <p:cNvSpPr/>
          <p:nvPr/>
        </p:nvSpPr>
        <p:spPr>
          <a:xfrm>
            <a:off x="2743200" y="5047488"/>
            <a:ext cx="397763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798064" y="5074920"/>
            <a:ext cx="386791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Genre/category analysis</a:t>
            </a:r>
          </a:p>
        </p:txBody>
      </p:sp>
      <p:sp>
        <p:nvSpPr>
          <p:cNvPr id="52" name="Rectangle 51"/>
          <p:cNvSpPr/>
          <p:nvPr/>
        </p:nvSpPr>
        <p:spPr>
          <a:xfrm>
            <a:off x="868680" y="5358383"/>
            <a:ext cx="1874519" cy="288036"/>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23544" y="5385816"/>
            <a:ext cx="176479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duration</a:t>
            </a:r>
          </a:p>
        </p:txBody>
      </p:sp>
      <p:sp>
        <p:nvSpPr>
          <p:cNvPr id="54" name="Rectangle 53"/>
          <p:cNvSpPr/>
          <p:nvPr/>
        </p:nvSpPr>
        <p:spPr>
          <a:xfrm>
            <a:off x="2743200" y="5358383"/>
            <a:ext cx="3977639" cy="288036"/>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98064" y="5385816"/>
            <a:ext cx="386791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Length or seasons after parsing</a:t>
            </a:r>
          </a:p>
        </p:txBody>
      </p:sp>
      <p:sp>
        <p:nvSpPr>
          <p:cNvPr id="56" name="Rectangle 55"/>
          <p:cNvSpPr/>
          <p:nvPr/>
        </p:nvSpPr>
        <p:spPr>
          <a:xfrm>
            <a:off x="868680" y="5669280"/>
            <a:ext cx="187451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23544" y="5696712"/>
            <a:ext cx="176479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rating</a:t>
            </a:r>
          </a:p>
        </p:txBody>
      </p:sp>
      <p:sp>
        <p:nvSpPr>
          <p:cNvPr id="58" name="Rectangle 57"/>
          <p:cNvSpPr/>
          <p:nvPr/>
        </p:nvSpPr>
        <p:spPr>
          <a:xfrm>
            <a:off x="2743200" y="5669280"/>
            <a:ext cx="3977639" cy="288036"/>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798064" y="5696712"/>
            <a:ext cx="3867911" cy="237744"/>
          </a:xfrm>
          <a:prstGeom prst="rect">
            <a:avLst/>
          </a:prstGeom>
          <a:noFill/>
        </p:spPr>
        <p:txBody>
          <a:bodyPr wrap="square" lIns="45720" rIns="45720" anchor="ctr">
            <a:spAutoFit/>
          </a:bodyPr>
          <a:lstStyle/>
          <a:p>
            <a:pPr>
              <a:spcAft>
                <a:spcPts val="0"/>
              </a:spcAft>
            </a:pPr>
            <a:r>
              <a:rPr sz="1000" b="0">
                <a:solidFill>
                  <a:srgbClr val="F5F5F5"/>
                </a:solidFill>
                <a:latin typeface="Aptos"/>
              </a:rPr>
              <a:t>Content classification</a:t>
            </a:r>
          </a:p>
        </p:txBody>
      </p:sp>
      <p:sp>
        <p:nvSpPr>
          <p:cNvPr id="60" name="Rounded Rectangle 59"/>
          <p:cNvSpPr/>
          <p:nvPr/>
        </p:nvSpPr>
        <p:spPr>
          <a:xfrm>
            <a:off x="7360920" y="2907792"/>
            <a:ext cx="4206240" cy="3063240"/>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635240" y="3127248"/>
            <a:ext cx="3566160" cy="274320"/>
          </a:xfrm>
          <a:prstGeom prst="rect">
            <a:avLst/>
          </a:prstGeom>
          <a:noFill/>
        </p:spPr>
        <p:txBody>
          <a:bodyPr wrap="square" lIns="45720" rIns="45720" anchor="t">
            <a:spAutoFit/>
          </a:bodyPr>
          <a:lstStyle/>
          <a:p>
            <a:pPr>
              <a:spcAft>
                <a:spcPts val="0"/>
              </a:spcAft>
            </a:pPr>
            <a:r>
              <a:rPr sz="1200" b="1">
                <a:solidFill>
                  <a:srgbClr val="E50914"/>
                </a:solidFill>
                <a:latin typeface="Aptos"/>
              </a:rPr>
              <a:t>VALIDATION CHECKLIST</a:t>
            </a:r>
          </a:p>
        </p:txBody>
      </p:sp>
      <p:sp>
        <p:nvSpPr>
          <p:cNvPr id="62" name="TextBox 61"/>
          <p:cNvSpPr txBox="1"/>
          <p:nvPr/>
        </p:nvSpPr>
        <p:spPr>
          <a:xfrm>
            <a:off x="7607808" y="3566160"/>
            <a:ext cx="3611880" cy="2148840"/>
          </a:xfrm>
          <a:prstGeom prst="rect">
            <a:avLst/>
          </a:prstGeom>
          <a:noFill/>
        </p:spPr>
        <p:txBody>
          <a:bodyPr wrap="square" lIns="73152" rIns="73152" bIns="27432">
            <a:spAutoFit/>
          </a:bodyPr>
          <a:lstStyle/>
          <a:p>
            <a:pPr>
              <a:spcAft>
                <a:spcPts val="900"/>
              </a:spcAft>
              <a:defRPr sz="1100">
                <a:solidFill>
                  <a:srgbClr val="F5F5F5"/>
                </a:solidFill>
                <a:latin typeface="Aptos"/>
              </a:defRPr>
            </a:pPr>
            <a:r>
              <a:t>□ Confirm raw row count is preserved</a:t>
            </a:r>
          </a:p>
          <a:p>
            <a:pPr>
              <a:spcAft>
                <a:spcPts val="900"/>
              </a:spcAft>
              <a:defRPr sz="1100">
                <a:solidFill>
                  <a:srgbClr val="F5F5F5"/>
                </a:solidFill>
                <a:latin typeface="Aptos"/>
              </a:defRPr>
            </a:pPr>
            <a:r>
              <a:t>□ Trim and standardize text consistently</a:t>
            </a:r>
          </a:p>
          <a:p>
            <a:pPr>
              <a:spcAft>
                <a:spcPts val="900"/>
              </a:spcAft>
              <a:defRPr sz="1100">
                <a:solidFill>
                  <a:srgbClr val="F5F5F5"/>
                </a:solidFill>
                <a:latin typeface="Aptos"/>
              </a:defRPr>
            </a:pPr>
            <a:r>
              <a:t>□ Parse dates and duration without overwriting originals</a:t>
            </a:r>
          </a:p>
          <a:p>
            <a:pPr>
              <a:spcAft>
                <a:spcPts val="900"/>
              </a:spcAft>
              <a:defRPr sz="1100">
                <a:solidFill>
                  <a:srgbClr val="F5F5F5"/>
                </a:solidFill>
                <a:latin typeface="Aptos"/>
              </a:defRPr>
            </a:pPr>
            <a:r>
              <a:t>□ Review suspicious rating/duration records</a:t>
            </a:r>
          </a:p>
          <a:p>
            <a:pPr>
              <a:spcAft>
                <a:spcPts val="900"/>
              </a:spcAft>
              <a:defRPr sz="1100">
                <a:solidFill>
                  <a:srgbClr val="F5F5F5"/>
                </a:solidFill>
                <a:latin typeface="Aptos"/>
              </a:defRPr>
            </a:pPr>
            <a:r>
              <a:t>□ Recalculate missing values after cleaning</a:t>
            </a:r>
          </a:p>
          <a:p>
            <a:pPr>
              <a:spcAft>
                <a:spcPts val="900"/>
              </a:spcAft>
              <a:defRPr sz="1100">
                <a:solidFill>
                  <a:srgbClr val="F5F5F5"/>
                </a:solidFill>
                <a:latin typeface="Aptos"/>
              </a:defRPr>
            </a:pPr>
            <a:r>
              <a:t>□ Save a separate cleaned dataset</a:t>
            </a:r>
          </a:p>
        </p:txBody>
      </p:sp>
      <p:sp>
        <p:nvSpPr>
          <p:cNvPr id="63" name="TextBox 62"/>
          <p:cNvSpPr txBox="1"/>
          <p:nvPr/>
        </p:nvSpPr>
        <p:spPr>
          <a:xfrm>
            <a:off x="685800" y="6099048"/>
            <a:ext cx="10881360" cy="201168"/>
          </a:xfrm>
          <a:prstGeom prst="rect">
            <a:avLst/>
          </a:prstGeom>
          <a:noFill/>
        </p:spPr>
        <p:txBody>
          <a:bodyPr wrap="square" lIns="45720" rIns="45720" anchor="t">
            <a:spAutoFit/>
          </a:bodyPr>
          <a:lstStyle/>
          <a:p>
            <a:pPr>
              <a:spcAft>
                <a:spcPts val="0"/>
              </a:spcAft>
            </a:pPr>
            <a:r>
              <a:rPr sz="900" b="1">
                <a:solidFill>
                  <a:srgbClr val="F5B74D"/>
                </a:solidFill>
                <a:latin typeface="Aptos"/>
              </a:rPr>
              <a:t>Note: post-cleaning metrics should be filled only after running and validating the cleaning pipeline.</a:t>
            </a:r>
          </a:p>
        </p:txBody>
      </p:sp>
      <p:sp>
        <p:nvSpPr>
          <p:cNvPr id="64" name="TextBox 63"/>
          <p:cNvSpPr txBox="1"/>
          <p:nvPr/>
        </p:nvSpPr>
        <p:spPr>
          <a:xfrm>
            <a:off x="502920" y="6537960"/>
            <a:ext cx="7772400" cy="164592"/>
          </a:xfrm>
          <a:prstGeom prst="rect">
            <a:avLst/>
          </a:prstGeom>
          <a:noFill/>
        </p:spPr>
        <p:txBody>
          <a:bodyPr wrap="square" lIns="45720" rIns="45720" anchor="t">
            <a:spAutoFit/>
          </a:bodyPr>
          <a:lstStyle/>
          <a:p>
            <a:pPr>
              <a:spcAft>
                <a:spcPts val="0"/>
              </a:spcAft>
            </a:pPr>
            <a:r>
              <a:rPr sz="800" b="0">
                <a:solidFill>
                  <a:srgbClr val="B8B8B8"/>
                </a:solidFill>
                <a:latin typeface="Aptos"/>
              </a:rPr>
              <a:t>ACADEMIC PROJECT  |  Dataset: netflix_titles.csv</a:t>
            </a:r>
          </a:p>
        </p:txBody>
      </p:sp>
      <p:sp>
        <p:nvSpPr>
          <p:cNvPr id="65" name="TextBox 64"/>
          <p:cNvSpPr txBox="1"/>
          <p:nvPr/>
        </p:nvSpPr>
        <p:spPr>
          <a:xfrm>
            <a:off x="10881360" y="6519672"/>
            <a:ext cx="777240" cy="201168"/>
          </a:xfrm>
          <a:prstGeom prst="rect">
            <a:avLst/>
          </a:prstGeom>
          <a:noFill/>
        </p:spPr>
        <p:txBody>
          <a:bodyPr wrap="square" lIns="45720" rIns="45720" anchor="t">
            <a:spAutoFit/>
          </a:bodyPr>
          <a:lstStyle/>
          <a:p>
            <a:pPr algn="r">
              <a:spcAft>
                <a:spcPts val="0"/>
              </a:spcAft>
            </a:pPr>
            <a:r>
              <a:rPr sz="900" b="1">
                <a:solidFill>
                  <a:srgbClr val="B8B8B8"/>
                </a:solidFill>
                <a:latin typeface="Aptos"/>
              </a:rPr>
              <a:t>04 / 07</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5029200" cy="256032"/>
          </a:xfrm>
          <a:prstGeom prst="rect">
            <a:avLst/>
          </a:prstGeom>
          <a:noFill/>
        </p:spPr>
        <p:txBody>
          <a:bodyPr wrap="square" lIns="45720" rIns="45720" anchor="t">
            <a:spAutoFit/>
          </a:bodyPr>
          <a:lstStyle/>
          <a:p>
            <a:pPr>
              <a:spcAft>
                <a:spcPts val="0"/>
              </a:spcAft>
            </a:pPr>
            <a:r>
              <a:rPr sz="1000" b="1">
                <a:solidFill>
                  <a:srgbClr val="E50914"/>
                </a:solidFill>
                <a:latin typeface="Aptos"/>
              </a:rPr>
              <a:t>NETFLIX DATA ANALYTICS</a:t>
            </a:r>
          </a:p>
        </p:txBody>
      </p:sp>
      <p:sp>
        <p:nvSpPr>
          <p:cNvPr id="3" name="TextBox 2"/>
          <p:cNvSpPr txBox="1"/>
          <p:nvPr/>
        </p:nvSpPr>
        <p:spPr>
          <a:xfrm>
            <a:off x="502920" y="566928"/>
            <a:ext cx="11155680" cy="530352"/>
          </a:xfrm>
          <a:prstGeom prst="rect">
            <a:avLst/>
          </a:prstGeom>
          <a:noFill/>
        </p:spPr>
        <p:txBody>
          <a:bodyPr wrap="square" lIns="45720" rIns="45720" anchor="t">
            <a:spAutoFit/>
          </a:bodyPr>
          <a:lstStyle/>
          <a:p>
            <a:pPr>
              <a:spcAft>
                <a:spcPts val="0"/>
              </a:spcAft>
            </a:pPr>
            <a:r>
              <a:rPr sz="2700" b="1">
                <a:solidFill>
                  <a:srgbClr val="F5F5F5"/>
                </a:solidFill>
                <a:latin typeface="Aptos"/>
              </a:rPr>
              <a:t>04  |  Netflix Dashboard Overview</a:t>
            </a:r>
          </a:p>
        </p:txBody>
      </p:sp>
      <p:sp>
        <p:nvSpPr>
          <p:cNvPr id="4" name="Rectangle 3"/>
          <p:cNvSpPr/>
          <p:nvPr/>
        </p:nvSpPr>
        <p:spPr>
          <a:xfrm>
            <a:off x="502920" y="1197864"/>
            <a:ext cx="713232" cy="5029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06640" y="256032"/>
            <a:ext cx="4251960" cy="228600"/>
          </a:xfrm>
          <a:prstGeom prst="rect">
            <a:avLst/>
          </a:prstGeom>
          <a:noFill/>
        </p:spPr>
        <p:txBody>
          <a:bodyPr wrap="square" lIns="45720" rIns="45720" anchor="t">
            <a:spAutoFit/>
          </a:bodyPr>
          <a:lstStyle/>
          <a:p>
            <a:pPr algn="r">
              <a:spcAft>
                <a:spcPts val="0"/>
              </a:spcAft>
            </a:pPr>
            <a:r>
              <a:rPr sz="900" b="1">
                <a:solidFill>
                  <a:srgbClr val="B8B8B8"/>
                </a:solidFill>
                <a:latin typeface="Aptos"/>
              </a:rPr>
              <a:t>NETFLIX CATALOGUE • DATA-DRIVEN STORY</a:t>
            </a:r>
          </a:p>
        </p:txBody>
      </p:sp>
      <p:sp>
        <p:nvSpPr>
          <p:cNvPr id="63" name="TextBox 62"/>
          <p:cNvSpPr txBox="1"/>
          <p:nvPr/>
        </p:nvSpPr>
        <p:spPr>
          <a:xfrm>
            <a:off x="10881360" y="6519672"/>
            <a:ext cx="777240" cy="201168"/>
          </a:xfrm>
          <a:prstGeom prst="rect">
            <a:avLst/>
          </a:prstGeom>
          <a:noFill/>
        </p:spPr>
        <p:txBody>
          <a:bodyPr wrap="square" lIns="45720" rIns="45720" anchor="t">
            <a:spAutoFit/>
          </a:bodyPr>
          <a:lstStyle/>
          <a:p>
            <a:pPr algn="r">
              <a:spcAft>
                <a:spcPts val="0"/>
              </a:spcAft>
            </a:pPr>
            <a:r>
              <a:rPr sz="900" b="1">
                <a:solidFill>
                  <a:srgbClr val="B8B8B8"/>
                </a:solidFill>
                <a:latin typeface="Aptos"/>
              </a:rPr>
              <a:t>05 / 07</a:t>
            </a:r>
          </a:p>
        </p:txBody>
      </p:sp>
      <p:pic>
        <p:nvPicPr>
          <p:cNvPr id="64" name="Picture 6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120" y="1321014"/>
            <a:ext cx="9675223" cy="491757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5029200" cy="256032"/>
          </a:xfrm>
          <a:prstGeom prst="rect">
            <a:avLst/>
          </a:prstGeom>
          <a:noFill/>
        </p:spPr>
        <p:txBody>
          <a:bodyPr wrap="square" lIns="45720" rIns="45720" anchor="t">
            <a:spAutoFit/>
          </a:bodyPr>
          <a:lstStyle/>
          <a:p>
            <a:pPr>
              <a:spcAft>
                <a:spcPts val="0"/>
              </a:spcAft>
            </a:pPr>
            <a:r>
              <a:rPr sz="1000" b="1">
                <a:solidFill>
                  <a:srgbClr val="E50914"/>
                </a:solidFill>
                <a:latin typeface="Aptos"/>
              </a:rPr>
              <a:t>NETFLIX DATA ANALYTICS</a:t>
            </a:r>
          </a:p>
        </p:txBody>
      </p:sp>
      <p:sp>
        <p:nvSpPr>
          <p:cNvPr id="3" name="TextBox 2"/>
          <p:cNvSpPr txBox="1"/>
          <p:nvPr/>
        </p:nvSpPr>
        <p:spPr>
          <a:xfrm>
            <a:off x="502920" y="566928"/>
            <a:ext cx="11155680" cy="530352"/>
          </a:xfrm>
          <a:prstGeom prst="rect">
            <a:avLst/>
          </a:prstGeom>
          <a:noFill/>
        </p:spPr>
        <p:txBody>
          <a:bodyPr wrap="square" lIns="45720" rIns="45720" anchor="t">
            <a:spAutoFit/>
          </a:bodyPr>
          <a:lstStyle/>
          <a:p>
            <a:pPr>
              <a:spcAft>
                <a:spcPts val="0"/>
              </a:spcAft>
            </a:pPr>
            <a:r>
              <a:rPr sz="2700" b="1" dirty="0">
                <a:solidFill>
                  <a:srgbClr val="F5F5F5"/>
                </a:solidFill>
                <a:latin typeface="Aptos"/>
              </a:rPr>
              <a:t>05  |  Dashboard Observations &amp; Insights</a:t>
            </a:r>
          </a:p>
        </p:txBody>
      </p:sp>
      <p:sp>
        <p:nvSpPr>
          <p:cNvPr id="4" name="Rectangle 3"/>
          <p:cNvSpPr/>
          <p:nvPr/>
        </p:nvSpPr>
        <p:spPr>
          <a:xfrm>
            <a:off x="502920" y="1197864"/>
            <a:ext cx="713232" cy="5029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06640" y="256032"/>
            <a:ext cx="4251960" cy="228600"/>
          </a:xfrm>
          <a:prstGeom prst="rect">
            <a:avLst/>
          </a:prstGeom>
          <a:noFill/>
        </p:spPr>
        <p:txBody>
          <a:bodyPr wrap="square" lIns="45720" rIns="45720" anchor="t">
            <a:spAutoFit/>
          </a:bodyPr>
          <a:lstStyle/>
          <a:p>
            <a:pPr algn="r">
              <a:spcAft>
                <a:spcPts val="0"/>
              </a:spcAft>
            </a:pPr>
            <a:r>
              <a:rPr sz="900" b="1">
                <a:solidFill>
                  <a:srgbClr val="B8B8B8"/>
                </a:solidFill>
                <a:latin typeface="Aptos"/>
              </a:rPr>
              <a:t>NETFLIX CATALOGUE • DATA-DRIVEN STORY</a:t>
            </a:r>
          </a:p>
        </p:txBody>
      </p:sp>
      <p:sp>
        <p:nvSpPr>
          <p:cNvPr id="6" name="Rounded Rectangle 5"/>
          <p:cNvSpPr/>
          <p:nvPr/>
        </p:nvSpPr>
        <p:spPr>
          <a:xfrm>
            <a:off x="640080" y="1508760"/>
            <a:ext cx="10927080" cy="71323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1508760"/>
            <a:ext cx="658368" cy="71323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1709928"/>
            <a:ext cx="347472" cy="228600"/>
          </a:xfrm>
          <a:prstGeom prst="rect">
            <a:avLst/>
          </a:prstGeom>
          <a:noFill/>
        </p:spPr>
        <p:txBody>
          <a:bodyPr wrap="square" lIns="45720" rIns="45720" anchor="t">
            <a:spAutoFit/>
          </a:bodyPr>
          <a:lstStyle/>
          <a:p>
            <a:pPr>
              <a:spcAft>
                <a:spcPts val="0"/>
              </a:spcAft>
            </a:pPr>
            <a:r>
              <a:rPr sz="1200" b="1" dirty="0" smtClean="0">
                <a:solidFill>
                  <a:srgbClr val="F5F5F5"/>
                </a:solidFill>
                <a:latin typeface="Aptos"/>
              </a:rPr>
              <a:t>01</a:t>
            </a:r>
            <a:endParaRPr sz="1200" b="1" dirty="0">
              <a:solidFill>
                <a:srgbClr val="F5F5F5"/>
              </a:solidFill>
              <a:latin typeface="Aptos"/>
            </a:endParaRPr>
          </a:p>
        </p:txBody>
      </p:sp>
      <p:sp>
        <p:nvSpPr>
          <p:cNvPr id="9" name="TextBox 8"/>
          <p:cNvSpPr txBox="1"/>
          <p:nvPr/>
        </p:nvSpPr>
        <p:spPr>
          <a:xfrm>
            <a:off x="1481328" y="1627631"/>
            <a:ext cx="2468880" cy="228600"/>
          </a:xfrm>
          <a:prstGeom prst="rect">
            <a:avLst/>
          </a:prstGeom>
          <a:noFill/>
        </p:spPr>
        <p:txBody>
          <a:bodyPr wrap="square" lIns="45720" rIns="45720" anchor="t">
            <a:spAutoFit/>
          </a:bodyPr>
          <a:lstStyle/>
          <a:p>
            <a:pPr>
              <a:spcAft>
                <a:spcPts val="0"/>
              </a:spcAft>
            </a:pPr>
            <a:r>
              <a:rPr sz="1100" b="1">
                <a:solidFill>
                  <a:srgbClr val="F5F5F5"/>
                </a:solidFill>
                <a:latin typeface="Aptos"/>
              </a:rPr>
              <a:t>MOVIES DOMINATE</a:t>
            </a:r>
          </a:p>
        </p:txBody>
      </p:sp>
      <p:sp>
        <p:nvSpPr>
          <p:cNvPr id="10" name="TextBox 9"/>
          <p:cNvSpPr txBox="1"/>
          <p:nvPr/>
        </p:nvSpPr>
        <p:spPr>
          <a:xfrm>
            <a:off x="3886200" y="1627631"/>
            <a:ext cx="7315200" cy="438912"/>
          </a:xfrm>
          <a:prstGeom prst="rect">
            <a:avLst/>
          </a:prstGeom>
          <a:noFill/>
        </p:spPr>
        <p:txBody>
          <a:bodyPr wrap="square" lIns="45720" rIns="45720" anchor="t">
            <a:spAutoFit/>
          </a:bodyPr>
          <a:lstStyle/>
          <a:p>
            <a:pPr>
              <a:spcAft>
                <a:spcPts val="0"/>
              </a:spcAft>
            </a:pPr>
            <a:r>
              <a:rPr sz="1100" b="0" dirty="0" smtClean="0">
                <a:solidFill>
                  <a:srgbClr val="B8B8B8"/>
                </a:solidFill>
                <a:latin typeface="Aptos"/>
              </a:rPr>
              <a:t>6,131 Movies vs 2,676 TV Shows; movies make up 69.6% of catalogue titles.</a:t>
            </a:r>
            <a:endParaRPr sz="1100" b="0" dirty="0">
              <a:solidFill>
                <a:srgbClr val="B8B8B8"/>
              </a:solidFill>
              <a:latin typeface="Aptos"/>
            </a:endParaRPr>
          </a:p>
        </p:txBody>
      </p:sp>
      <p:sp>
        <p:nvSpPr>
          <p:cNvPr id="11" name="Rounded Rectangle 10"/>
          <p:cNvSpPr/>
          <p:nvPr/>
        </p:nvSpPr>
        <p:spPr>
          <a:xfrm>
            <a:off x="640080" y="2404872"/>
            <a:ext cx="10927080" cy="71323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2404872"/>
            <a:ext cx="658368" cy="71323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2606040"/>
            <a:ext cx="347472" cy="228600"/>
          </a:xfrm>
          <a:prstGeom prst="rect">
            <a:avLst/>
          </a:prstGeom>
          <a:noFill/>
        </p:spPr>
        <p:txBody>
          <a:bodyPr wrap="square" lIns="45720" rIns="45720" anchor="t">
            <a:spAutoFit/>
          </a:bodyPr>
          <a:lstStyle/>
          <a:p>
            <a:pPr>
              <a:spcAft>
                <a:spcPts val="0"/>
              </a:spcAft>
            </a:pPr>
            <a:r>
              <a:rPr sz="1200" b="1" dirty="0" smtClean="0">
                <a:solidFill>
                  <a:srgbClr val="F5F5F5"/>
                </a:solidFill>
                <a:latin typeface="Aptos"/>
              </a:rPr>
              <a:t>02</a:t>
            </a:r>
            <a:endParaRPr sz="1200" b="1" dirty="0">
              <a:solidFill>
                <a:srgbClr val="F5F5F5"/>
              </a:solidFill>
              <a:latin typeface="Aptos"/>
            </a:endParaRPr>
          </a:p>
        </p:txBody>
      </p:sp>
      <p:sp>
        <p:nvSpPr>
          <p:cNvPr id="14" name="TextBox 13"/>
          <p:cNvSpPr txBox="1"/>
          <p:nvPr/>
        </p:nvSpPr>
        <p:spPr>
          <a:xfrm>
            <a:off x="1481328" y="2523744"/>
            <a:ext cx="2468880" cy="228600"/>
          </a:xfrm>
          <a:prstGeom prst="rect">
            <a:avLst/>
          </a:prstGeom>
          <a:noFill/>
        </p:spPr>
        <p:txBody>
          <a:bodyPr wrap="square" lIns="45720" rIns="45720" anchor="t">
            <a:spAutoFit/>
          </a:bodyPr>
          <a:lstStyle/>
          <a:p>
            <a:pPr>
              <a:spcAft>
                <a:spcPts val="0"/>
              </a:spcAft>
            </a:pPr>
            <a:r>
              <a:rPr sz="1100" b="1" dirty="0" smtClean="0">
                <a:solidFill>
                  <a:srgbClr val="F5F5F5"/>
                </a:solidFill>
                <a:latin typeface="Aptos"/>
              </a:rPr>
              <a:t>RECENT RELEASE YEARS</a:t>
            </a:r>
            <a:endParaRPr sz="1100" b="1" dirty="0">
              <a:solidFill>
                <a:srgbClr val="F5F5F5"/>
              </a:solidFill>
              <a:latin typeface="Aptos"/>
            </a:endParaRPr>
          </a:p>
        </p:txBody>
      </p:sp>
      <p:sp>
        <p:nvSpPr>
          <p:cNvPr id="15" name="TextBox 14"/>
          <p:cNvSpPr txBox="1"/>
          <p:nvPr/>
        </p:nvSpPr>
        <p:spPr>
          <a:xfrm>
            <a:off x="3886200" y="2523744"/>
            <a:ext cx="7315200" cy="438912"/>
          </a:xfrm>
          <a:prstGeom prst="rect">
            <a:avLst/>
          </a:prstGeom>
          <a:noFill/>
        </p:spPr>
        <p:txBody>
          <a:bodyPr wrap="square" lIns="45720" rIns="45720" anchor="t">
            <a:spAutoFit/>
          </a:bodyPr>
          <a:lstStyle/>
          <a:p>
            <a:pPr>
              <a:spcAft>
                <a:spcPts val="0"/>
              </a:spcAft>
            </a:pPr>
            <a:r>
              <a:rPr sz="1100" b="0">
                <a:solidFill>
                  <a:srgbClr val="B8B8B8"/>
                </a:solidFill>
                <a:latin typeface="Aptos"/>
              </a:rPr>
              <a:t>2017–2020 are among the most represented release years; 2018 leads with 1,147 titles.</a:t>
            </a:r>
          </a:p>
        </p:txBody>
      </p:sp>
      <p:sp>
        <p:nvSpPr>
          <p:cNvPr id="16" name="Rounded Rectangle 15"/>
          <p:cNvSpPr/>
          <p:nvPr/>
        </p:nvSpPr>
        <p:spPr>
          <a:xfrm>
            <a:off x="640080" y="3300984"/>
            <a:ext cx="10927080" cy="71323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300984"/>
            <a:ext cx="658368" cy="713232"/>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6384" y="3502152"/>
            <a:ext cx="347472" cy="228600"/>
          </a:xfrm>
          <a:prstGeom prst="rect">
            <a:avLst/>
          </a:prstGeom>
          <a:noFill/>
        </p:spPr>
        <p:txBody>
          <a:bodyPr wrap="square" lIns="45720" rIns="45720" anchor="t">
            <a:spAutoFit/>
          </a:bodyPr>
          <a:lstStyle/>
          <a:p>
            <a:pPr>
              <a:spcAft>
                <a:spcPts val="0"/>
              </a:spcAft>
            </a:pPr>
            <a:r>
              <a:rPr sz="1200" b="1">
                <a:solidFill>
                  <a:srgbClr val="F5F5F5"/>
                </a:solidFill>
                <a:latin typeface="Aptos"/>
              </a:rPr>
              <a:t>03</a:t>
            </a:r>
          </a:p>
        </p:txBody>
      </p:sp>
      <p:sp>
        <p:nvSpPr>
          <p:cNvPr id="19" name="TextBox 18"/>
          <p:cNvSpPr txBox="1"/>
          <p:nvPr/>
        </p:nvSpPr>
        <p:spPr>
          <a:xfrm>
            <a:off x="1481328" y="3419856"/>
            <a:ext cx="2468880" cy="228600"/>
          </a:xfrm>
          <a:prstGeom prst="rect">
            <a:avLst/>
          </a:prstGeom>
          <a:noFill/>
        </p:spPr>
        <p:txBody>
          <a:bodyPr wrap="square" lIns="45720" rIns="45720" anchor="t">
            <a:spAutoFit/>
          </a:bodyPr>
          <a:lstStyle/>
          <a:p>
            <a:pPr>
              <a:spcAft>
                <a:spcPts val="0"/>
              </a:spcAft>
            </a:pPr>
            <a:r>
              <a:rPr sz="1100" b="1">
                <a:solidFill>
                  <a:srgbClr val="F5F5F5"/>
                </a:solidFill>
                <a:latin typeface="Aptos"/>
              </a:rPr>
              <a:t>US &amp; INDIA LEAD</a:t>
            </a:r>
          </a:p>
        </p:txBody>
      </p:sp>
      <p:sp>
        <p:nvSpPr>
          <p:cNvPr id="20" name="TextBox 19"/>
          <p:cNvSpPr txBox="1"/>
          <p:nvPr/>
        </p:nvSpPr>
        <p:spPr>
          <a:xfrm>
            <a:off x="3886200" y="3419856"/>
            <a:ext cx="7315200" cy="438912"/>
          </a:xfrm>
          <a:prstGeom prst="rect">
            <a:avLst/>
          </a:prstGeom>
          <a:noFill/>
        </p:spPr>
        <p:txBody>
          <a:bodyPr wrap="square" lIns="45720" rIns="45720" anchor="t">
            <a:spAutoFit/>
          </a:bodyPr>
          <a:lstStyle/>
          <a:p>
            <a:pPr>
              <a:spcAft>
                <a:spcPts val="0"/>
              </a:spcAft>
            </a:pPr>
            <a:r>
              <a:rPr sz="1100" b="0">
                <a:solidFill>
                  <a:srgbClr val="B8B8B8"/>
                </a:solidFill>
                <a:latin typeface="Aptos"/>
              </a:rPr>
              <a:t>Country labels: United States 3,689; India 1,046. Co-productions can count in multiple countries.</a:t>
            </a:r>
          </a:p>
        </p:txBody>
      </p:sp>
      <p:sp>
        <p:nvSpPr>
          <p:cNvPr id="21" name="Rounded Rectangle 20"/>
          <p:cNvSpPr/>
          <p:nvPr/>
        </p:nvSpPr>
        <p:spPr>
          <a:xfrm>
            <a:off x="640080" y="4197096"/>
            <a:ext cx="10927080" cy="71323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40080" y="4197096"/>
            <a:ext cx="658368" cy="713232"/>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6384" y="4398264"/>
            <a:ext cx="347472" cy="228600"/>
          </a:xfrm>
          <a:prstGeom prst="rect">
            <a:avLst/>
          </a:prstGeom>
          <a:noFill/>
        </p:spPr>
        <p:txBody>
          <a:bodyPr wrap="square" lIns="45720" rIns="45720" anchor="t">
            <a:spAutoFit/>
          </a:bodyPr>
          <a:lstStyle/>
          <a:p>
            <a:pPr>
              <a:spcAft>
                <a:spcPts val="0"/>
              </a:spcAft>
            </a:pPr>
            <a:r>
              <a:rPr sz="1200" b="1">
                <a:solidFill>
                  <a:srgbClr val="F5F5F5"/>
                </a:solidFill>
                <a:latin typeface="Aptos"/>
              </a:rPr>
              <a:t>04</a:t>
            </a:r>
          </a:p>
        </p:txBody>
      </p:sp>
      <p:sp>
        <p:nvSpPr>
          <p:cNvPr id="24" name="TextBox 23"/>
          <p:cNvSpPr txBox="1"/>
          <p:nvPr/>
        </p:nvSpPr>
        <p:spPr>
          <a:xfrm>
            <a:off x="1481328" y="4315968"/>
            <a:ext cx="2468880" cy="228600"/>
          </a:xfrm>
          <a:prstGeom prst="rect">
            <a:avLst/>
          </a:prstGeom>
          <a:noFill/>
        </p:spPr>
        <p:txBody>
          <a:bodyPr wrap="square" lIns="45720" rIns="45720" anchor="t">
            <a:spAutoFit/>
          </a:bodyPr>
          <a:lstStyle/>
          <a:p>
            <a:pPr>
              <a:spcAft>
                <a:spcPts val="0"/>
              </a:spcAft>
            </a:pPr>
            <a:r>
              <a:rPr sz="1100" b="1">
                <a:solidFill>
                  <a:srgbClr val="F5F5F5"/>
                </a:solidFill>
                <a:latin typeface="Aptos"/>
              </a:rPr>
              <a:t>DRAMA &amp; INTERNATIONAL</a:t>
            </a:r>
          </a:p>
        </p:txBody>
      </p:sp>
      <p:sp>
        <p:nvSpPr>
          <p:cNvPr id="25" name="TextBox 24"/>
          <p:cNvSpPr txBox="1"/>
          <p:nvPr/>
        </p:nvSpPr>
        <p:spPr>
          <a:xfrm>
            <a:off x="3886200" y="4315968"/>
            <a:ext cx="7315200" cy="438912"/>
          </a:xfrm>
          <a:prstGeom prst="rect">
            <a:avLst/>
          </a:prstGeom>
          <a:noFill/>
        </p:spPr>
        <p:txBody>
          <a:bodyPr wrap="square" lIns="45720" rIns="45720" anchor="t">
            <a:spAutoFit/>
          </a:bodyPr>
          <a:lstStyle/>
          <a:p>
            <a:pPr>
              <a:spcAft>
                <a:spcPts val="0"/>
              </a:spcAft>
            </a:pPr>
            <a:r>
              <a:rPr sz="1100" b="0">
                <a:solidFill>
                  <a:srgbClr val="B8B8B8"/>
                </a:solidFill>
                <a:latin typeface="Aptos"/>
              </a:rPr>
              <a:t>International Movies (2,752) and Dramas (2,427) are the most frequent genre labels.</a:t>
            </a:r>
          </a:p>
        </p:txBody>
      </p:sp>
      <p:sp>
        <p:nvSpPr>
          <p:cNvPr id="26" name="Rounded Rectangle 25"/>
          <p:cNvSpPr/>
          <p:nvPr/>
        </p:nvSpPr>
        <p:spPr>
          <a:xfrm>
            <a:off x="640080" y="5093208"/>
            <a:ext cx="10927080" cy="71323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5093208"/>
            <a:ext cx="658368" cy="713232"/>
          </a:xfrm>
          <a:prstGeom prst="rect">
            <a:avLst/>
          </a:prstGeom>
          <a:solidFill>
            <a:srgbClr val="27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6384" y="5294376"/>
            <a:ext cx="347472" cy="228600"/>
          </a:xfrm>
          <a:prstGeom prst="rect">
            <a:avLst/>
          </a:prstGeom>
          <a:noFill/>
        </p:spPr>
        <p:txBody>
          <a:bodyPr wrap="square" lIns="45720" rIns="45720" anchor="t">
            <a:spAutoFit/>
          </a:bodyPr>
          <a:lstStyle/>
          <a:p>
            <a:pPr>
              <a:spcAft>
                <a:spcPts val="0"/>
              </a:spcAft>
            </a:pPr>
            <a:r>
              <a:rPr sz="1200" b="1">
                <a:solidFill>
                  <a:srgbClr val="F5F5F5"/>
                </a:solidFill>
                <a:latin typeface="Aptos"/>
              </a:rPr>
              <a:t>05</a:t>
            </a:r>
          </a:p>
        </p:txBody>
      </p:sp>
      <p:sp>
        <p:nvSpPr>
          <p:cNvPr id="29" name="TextBox 28"/>
          <p:cNvSpPr txBox="1"/>
          <p:nvPr/>
        </p:nvSpPr>
        <p:spPr>
          <a:xfrm>
            <a:off x="1481328" y="5212080"/>
            <a:ext cx="2468880" cy="228600"/>
          </a:xfrm>
          <a:prstGeom prst="rect">
            <a:avLst/>
          </a:prstGeom>
          <a:noFill/>
        </p:spPr>
        <p:txBody>
          <a:bodyPr wrap="square" lIns="45720" rIns="45720" anchor="t">
            <a:spAutoFit/>
          </a:bodyPr>
          <a:lstStyle/>
          <a:p>
            <a:pPr>
              <a:spcAft>
                <a:spcPts val="0"/>
              </a:spcAft>
            </a:pPr>
            <a:r>
              <a:rPr sz="1100" b="1">
                <a:solidFill>
                  <a:srgbClr val="F5F5F5"/>
                </a:solidFill>
                <a:latin typeface="Aptos"/>
              </a:rPr>
              <a:t>RATING MIX</a:t>
            </a:r>
          </a:p>
        </p:txBody>
      </p:sp>
      <p:sp>
        <p:nvSpPr>
          <p:cNvPr id="30" name="TextBox 29"/>
          <p:cNvSpPr txBox="1"/>
          <p:nvPr/>
        </p:nvSpPr>
        <p:spPr>
          <a:xfrm>
            <a:off x="3886200" y="5212080"/>
            <a:ext cx="7315200" cy="438912"/>
          </a:xfrm>
          <a:prstGeom prst="rect">
            <a:avLst/>
          </a:prstGeom>
          <a:noFill/>
        </p:spPr>
        <p:txBody>
          <a:bodyPr wrap="square" lIns="45720" rIns="45720" anchor="t">
            <a:spAutoFit/>
          </a:bodyPr>
          <a:lstStyle/>
          <a:p>
            <a:pPr>
              <a:spcAft>
                <a:spcPts val="0"/>
              </a:spcAft>
            </a:pPr>
            <a:r>
              <a:rPr sz="1100" b="0">
                <a:solidFill>
                  <a:srgbClr val="B8B8B8"/>
                </a:solidFill>
                <a:latin typeface="Aptos"/>
              </a:rPr>
              <a:t>TV-MA (3,207) and TV-14 (2,160) are the most frequent content ratings.</a:t>
            </a:r>
          </a:p>
        </p:txBody>
      </p:sp>
      <p:sp>
        <p:nvSpPr>
          <p:cNvPr id="31" name="Rounded Rectangle 30"/>
          <p:cNvSpPr/>
          <p:nvPr/>
        </p:nvSpPr>
        <p:spPr>
          <a:xfrm>
            <a:off x="640080" y="6053328"/>
            <a:ext cx="10927080" cy="292608"/>
          </a:xfrm>
          <a:prstGeom prst="roundRect">
            <a:avLst>
              <a:gd name="adj" fmla="val 12000"/>
            </a:avLst>
          </a:prstGeom>
          <a:solidFill>
            <a:srgbClr val="30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6089904"/>
            <a:ext cx="10515600" cy="182880"/>
          </a:xfrm>
          <a:prstGeom prst="rect">
            <a:avLst/>
          </a:prstGeom>
          <a:noFill/>
        </p:spPr>
        <p:txBody>
          <a:bodyPr wrap="square" lIns="45720" rIns="45720" anchor="t">
            <a:spAutoFit/>
          </a:bodyPr>
          <a:lstStyle/>
          <a:p>
            <a:pPr>
              <a:spcAft>
                <a:spcPts val="0"/>
              </a:spcAft>
            </a:pPr>
            <a:r>
              <a:rPr sz="900" b="1">
                <a:solidFill>
                  <a:srgbClr val="F5B74D"/>
                </a:solidFill>
                <a:latin typeface="Aptos"/>
              </a:rPr>
              <a:t>These are catalogue metadata findings—not proof of viewing popularity, revenue, or audience satisfaction.</a:t>
            </a:r>
          </a:p>
        </p:txBody>
      </p:sp>
      <p:sp>
        <p:nvSpPr>
          <p:cNvPr id="33" name="TextBox 32"/>
          <p:cNvSpPr txBox="1"/>
          <p:nvPr/>
        </p:nvSpPr>
        <p:spPr>
          <a:xfrm>
            <a:off x="502920" y="6537960"/>
            <a:ext cx="7772400" cy="164592"/>
          </a:xfrm>
          <a:prstGeom prst="rect">
            <a:avLst/>
          </a:prstGeom>
          <a:noFill/>
        </p:spPr>
        <p:txBody>
          <a:bodyPr wrap="square" lIns="45720" rIns="45720" anchor="t">
            <a:spAutoFit/>
          </a:bodyPr>
          <a:lstStyle/>
          <a:p>
            <a:pPr>
              <a:spcAft>
                <a:spcPts val="0"/>
              </a:spcAft>
            </a:pPr>
            <a:r>
              <a:rPr sz="800" b="0">
                <a:solidFill>
                  <a:srgbClr val="B8B8B8"/>
                </a:solidFill>
                <a:latin typeface="Aptos"/>
              </a:rPr>
              <a:t>ACADEMIC PROJECT  |  Dataset: netflix_titles.csv</a:t>
            </a:r>
          </a:p>
        </p:txBody>
      </p:sp>
      <p:sp>
        <p:nvSpPr>
          <p:cNvPr id="34" name="TextBox 33"/>
          <p:cNvSpPr txBox="1"/>
          <p:nvPr/>
        </p:nvSpPr>
        <p:spPr>
          <a:xfrm>
            <a:off x="10881360" y="6519672"/>
            <a:ext cx="777240" cy="201168"/>
          </a:xfrm>
          <a:prstGeom prst="rect">
            <a:avLst/>
          </a:prstGeom>
          <a:noFill/>
        </p:spPr>
        <p:txBody>
          <a:bodyPr wrap="square" lIns="45720" rIns="45720" anchor="t">
            <a:spAutoFit/>
          </a:bodyPr>
          <a:lstStyle/>
          <a:p>
            <a:pPr algn="r">
              <a:spcAft>
                <a:spcPts val="0"/>
              </a:spcAft>
            </a:pPr>
            <a:r>
              <a:rPr sz="900" b="1">
                <a:solidFill>
                  <a:srgbClr val="B8B8B8"/>
                </a:solidFill>
                <a:latin typeface="Aptos"/>
              </a:rPr>
              <a:t>06 / 07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5029200" cy="256032"/>
          </a:xfrm>
          <a:prstGeom prst="rect">
            <a:avLst/>
          </a:prstGeom>
          <a:noFill/>
        </p:spPr>
        <p:txBody>
          <a:bodyPr wrap="square" lIns="45720" rIns="45720" anchor="t">
            <a:spAutoFit/>
          </a:bodyPr>
          <a:lstStyle/>
          <a:p>
            <a:pPr>
              <a:spcAft>
                <a:spcPts val="0"/>
              </a:spcAft>
            </a:pPr>
            <a:r>
              <a:rPr sz="1000" b="1">
                <a:solidFill>
                  <a:srgbClr val="E50914"/>
                </a:solidFill>
                <a:latin typeface="Aptos"/>
              </a:rPr>
              <a:t>NETFLIX DATA ANALYTICS</a:t>
            </a:r>
          </a:p>
        </p:txBody>
      </p:sp>
      <p:sp>
        <p:nvSpPr>
          <p:cNvPr id="3" name="TextBox 2"/>
          <p:cNvSpPr txBox="1"/>
          <p:nvPr/>
        </p:nvSpPr>
        <p:spPr>
          <a:xfrm>
            <a:off x="502920" y="566928"/>
            <a:ext cx="11155680" cy="530352"/>
          </a:xfrm>
          <a:prstGeom prst="rect">
            <a:avLst/>
          </a:prstGeom>
          <a:noFill/>
        </p:spPr>
        <p:txBody>
          <a:bodyPr wrap="square" lIns="45720" rIns="45720" anchor="t">
            <a:spAutoFit/>
          </a:bodyPr>
          <a:lstStyle/>
          <a:p>
            <a:pPr>
              <a:spcAft>
                <a:spcPts val="0"/>
              </a:spcAft>
            </a:pPr>
            <a:r>
              <a:rPr sz="2700" b="1">
                <a:solidFill>
                  <a:srgbClr val="F5F5F5"/>
                </a:solidFill>
                <a:latin typeface="Aptos"/>
              </a:rPr>
              <a:t>06  |  Recommendations for Netflix</a:t>
            </a:r>
          </a:p>
        </p:txBody>
      </p:sp>
      <p:sp>
        <p:nvSpPr>
          <p:cNvPr id="4" name="Rectangle 3"/>
          <p:cNvSpPr/>
          <p:nvPr/>
        </p:nvSpPr>
        <p:spPr>
          <a:xfrm>
            <a:off x="502920" y="1197864"/>
            <a:ext cx="713232" cy="50292"/>
          </a:xfrm>
          <a:prstGeom prst="rect">
            <a:avLst/>
          </a:prstGeom>
          <a:solidFill>
            <a:srgbClr val="E50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06640" y="256032"/>
            <a:ext cx="4251960" cy="228600"/>
          </a:xfrm>
          <a:prstGeom prst="rect">
            <a:avLst/>
          </a:prstGeom>
          <a:noFill/>
        </p:spPr>
        <p:txBody>
          <a:bodyPr wrap="square" lIns="45720" rIns="45720" anchor="t">
            <a:spAutoFit/>
          </a:bodyPr>
          <a:lstStyle/>
          <a:p>
            <a:pPr algn="r">
              <a:spcAft>
                <a:spcPts val="0"/>
              </a:spcAft>
            </a:pPr>
            <a:r>
              <a:rPr sz="900" b="1">
                <a:solidFill>
                  <a:srgbClr val="B8B8B8"/>
                </a:solidFill>
                <a:latin typeface="Aptos"/>
              </a:rPr>
              <a:t>NETFLIX CATALOGUE • DATA-DRIVEN STORY</a:t>
            </a:r>
          </a:p>
        </p:txBody>
      </p:sp>
      <p:sp>
        <p:nvSpPr>
          <p:cNvPr id="6" name="Rounded Rectangle 5"/>
          <p:cNvSpPr/>
          <p:nvPr/>
        </p:nvSpPr>
        <p:spPr>
          <a:xfrm>
            <a:off x="621792" y="1536192"/>
            <a:ext cx="5349240" cy="107899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1719072"/>
            <a:ext cx="4800600" cy="256032"/>
          </a:xfrm>
          <a:prstGeom prst="rect">
            <a:avLst/>
          </a:prstGeom>
          <a:noFill/>
        </p:spPr>
        <p:txBody>
          <a:bodyPr wrap="square" lIns="45720" rIns="45720" anchor="t">
            <a:spAutoFit/>
          </a:bodyPr>
          <a:lstStyle/>
          <a:p>
            <a:pPr>
              <a:spcAft>
                <a:spcPts val="0"/>
              </a:spcAft>
            </a:pPr>
            <a:r>
              <a:rPr sz="1200" b="1">
                <a:solidFill>
                  <a:srgbClr val="F5F5F5"/>
                </a:solidFill>
                <a:latin typeface="Aptos"/>
              </a:rPr>
              <a:t>01  Improve metadata completeness</a:t>
            </a:r>
          </a:p>
        </p:txBody>
      </p:sp>
      <p:sp>
        <p:nvSpPr>
          <p:cNvPr id="8" name="TextBox 7"/>
          <p:cNvSpPr txBox="1"/>
          <p:nvPr/>
        </p:nvSpPr>
        <p:spPr>
          <a:xfrm>
            <a:off x="841248" y="2057400"/>
            <a:ext cx="480060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Prioritize director, cast and country metadata quality; track completeness rate.</a:t>
            </a:r>
          </a:p>
        </p:txBody>
      </p:sp>
      <p:sp>
        <p:nvSpPr>
          <p:cNvPr id="9" name="Rounded Rectangle 8"/>
          <p:cNvSpPr/>
          <p:nvPr/>
        </p:nvSpPr>
        <p:spPr>
          <a:xfrm>
            <a:off x="6245352" y="1536192"/>
            <a:ext cx="5349240" cy="107899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4808" y="1719072"/>
            <a:ext cx="4800600" cy="256032"/>
          </a:xfrm>
          <a:prstGeom prst="rect">
            <a:avLst/>
          </a:prstGeom>
          <a:noFill/>
        </p:spPr>
        <p:txBody>
          <a:bodyPr wrap="square" lIns="45720" rIns="45720" anchor="t">
            <a:spAutoFit/>
          </a:bodyPr>
          <a:lstStyle/>
          <a:p>
            <a:pPr>
              <a:spcAft>
                <a:spcPts val="0"/>
              </a:spcAft>
            </a:pPr>
            <a:r>
              <a:rPr sz="1200" b="1">
                <a:solidFill>
                  <a:srgbClr val="F5F5F5"/>
                </a:solidFill>
                <a:latin typeface="Aptos"/>
              </a:rPr>
              <a:t>02  Compare content portfolios</a:t>
            </a:r>
          </a:p>
        </p:txBody>
      </p:sp>
      <p:sp>
        <p:nvSpPr>
          <p:cNvPr id="11" name="TextBox 10"/>
          <p:cNvSpPr txBox="1"/>
          <p:nvPr/>
        </p:nvSpPr>
        <p:spPr>
          <a:xfrm>
            <a:off x="6464808" y="2057400"/>
            <a:ext cx="480060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Review movie/TV balance by country and genre before making acquisition decisions.</a:t>
            </a:r>
          </a:p>
        </p:txBody>
      </p:sp>
      <p:sp>
        <p:nvSpPr>
          <p:cNvPr id="12" name="Rounded Rectangle 11"/>
          <p:cNvSpPr/>
          <p:nvPr/>
        </p:nvSpPr>
        <p:spPr>
          <a:xfrm>
            <a:off x="621792" y="2889504"/>
            <a:ext cx="5349240" cy="107899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3072384"/>
            <a:ext cx="4800600" cy="256032"/>
          </a:xfrm>
          <a:prstGeom prst="rect">
            <a:avLst/>
          </a:prstGeom>
          <a:noFill/>
        </p:spPr>
        <p:txBody>
          <a:bodyPr wrap="square" lIns="45720" rIns="45720" anchor="t">
            <a:spAutoFit/>
          </a:bodyPr>
          <a:lstStyle/>
          <a:p>
            <a:pPr>
              <a:spcAft>
                <a:spcPts val="0"/>
              </a:spcAft>
            </a:pPr>
            <a:r>
              <a:rPr sz="1200" b="1">
                <a:solidFill>
                  <a:srgbClr val="F5F5F5"/>
                </a:solidFill>
                <a:latin typeface="Aptos"/>
              </a:rPr>
              <a:t>03  Track catalogue additions</a:t>
            </a:r>
          </a:p>
        </p:txBody>
      </p:sp>
      <p:sp>
        <p:nvSpPr>
          <p:cNvPr id="14" name="TextBox 13"/>
          <p:cNvSpPr txBox="1"/>
          <p:nvPr/>
        </p:nvSpPr>
        <p:spPr>
          <a:xfrm>
            <a:off x="841248" y="3410712"/>
            <a:ext cx="480060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Monitor date_added trends separately from release_year trends.</a:t>
            </a:r>
          </a:p>
        </p:txBody>
      </p:sp>
      <p:sp>
        <p:nvSpPr>
          <p:cNvPr id="15" name="Rounded Rectangle 14"/>
          <p:cNvSpPr/>
          <p:nvPr/>
        </p:nvSpPr>
        <p:spPr>
          <a:xfrm>
            <a:off x="6245352" y="2889504"/>
            <a:ext cx="5349240" cy="1078992"/>
          </a:xfrm>
          <a:prstGeom prst="roundRect">
            <a:avLst>
              <a:gd name="adj" fmla="val 12000"/>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64808" y="3072384"/>
            <a:ext cx="4800600" cy="256032"/>
          </a:xfrm>
          <a:prstGeom prst="rect">
            <a:avLst/>
          </a:prstGeom>
          <a:noFill/>
        </p:spPr>
        <p:txBody>
          <a:bodyPr wrap="square" lIns="45720" rIns="45720" anchor="t">
            <a:spAutoFit/>
          </a:bodyPr>
          <a:lstStyle/>
          <a:p>
            <a:pPr>
              <a:spcAft>
                <a:spcPts val="0"/>
              </a:spcAft>
            </a:pPr>
            <a:r>
              <a:rPr sz="1200" b="1">
                <a:solidFill>
                  <a:srgbClr val="F5F5F5"/>
                </a:solidFill>
                <a:latin typeface="Aptos"/>
              </a:rPr>
              <a:t>04  Add business outcome data</a:t>
            </a:r>
          </a:p>
        </p:txBody>
      </p:sp>
      <p:sp>
        <p:nvSpPr>
          <p:cNvPr id="17" name="TextBox 16"/>
          <p:cNvSpPr txBox="1"/>
          <p:nvPr/>
        </p:nvSpPr>
        <p:spPr>
          <a:xfrm>
            <a:off x="6464808" y="3410712"/>
            <a:ext cx="4800600" cy="384048"/>
          </a:xfrm>
          <a:prstGeom prst="rect">
            <a:avLst/>
          </a:prstGeom>
          <a:noFill/>
        </p:spPr>
        <p:txBody>
          <a:bodyPr wrap="square" lIns="45720" rIns="45720" anchor="t">
            <a:spAutoFit/>
          </a:bodyPr>
          <a:lstStyle/>
          <a:p>
            <a:pPr>
              <a:spcAft>
                <a:spcPts val="0"/>
              </a:spcAft>
            </a:pPr>
            <a:r>
              <a:rPr sz="1000" b="0">
                <a:solidFill>
                  <a:srgbClr val="B8B8B8"/>
                </a:solidFill>
                <a:latin typeface="Aptos"/>
              </a:rPr>
              <a:t>Combine catalogue metadata with viewing hours, completion, retention and cost data.</a:t>
            </a:r>
          </a:p>
        </p:txBody>
      </p:sp>
      <p:sp>
        <p:nvSpPr>
          <p:cNvPr id="18" name="Rounded Rectangle 17"/>
          <p:cNvSpPr/>
          <p:nvPr/>
        </p:nvSpPr>
        <p:spPr>
          <a:xfrm>
            <a:off x="621792" y="4462272"/>
            <a:ext cx="10972800" cy="1371600"/>
          </a:xfrm>
          <a:prstGeom prst="roundRect">
            <a:avLst>
              <a:gd name="adj" fmla="val 12000"/>
            </a:avLst>
          </a:prstGeom>
          <a:solidFill>
            <a:srgbClr val="2814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4681728"/>
            <a:ext cx="1828800" cy="256032"/>
          </a:xfrm>
          <a:prstGeom prst="rect">
            <a:avLst/>
          </a:prstGeom>
          <a:noFill/>
        </p:spPr>
        <p:txBody>
          <a:bodyPr wrap="square" lIns="45720" rIns="45720" anchor="t">
            <a:spAutoFit/>
          </a:bodyPr>
          <a:lstStyle/>
          <a:p>
            <a:pPr>
              <a:spcAft>
                <a:spcPts val="0"/>
              </a:spcAft>
            </a:pPr>
            <a:r>
              <a:rPr sz="1100" b="1">
                <a:solidFill>
                  <a:srgbClr val="E50914"/>
                </a:solidFill>
                <a:latin typeface="Aptos"/>
              </a:rPr>
              <a:t>CONCLUSION</a:t>
            </a:r>
          </a:p>
        </p:txBody>
      </p:sp>
      <p:sp>
        <p:nvSpPr>
          <p:cNvPr id="20" name="TextBox 19"/>
          <p:cNvSpPr txBox="1"/>
          <p:nvPr/>
        </p:nvSpPr>
        <p:spPr>
          <a:xfrm>
            <a:off x="896112" y="5010912"/>
            <a:ext cx="10241280" cy="548640"/>
          </a:xfrm>
          <a:prstGeom prst="rect">
            <a:avLst/>
          </a:prstGeom>
          <a:noFill/>
        </p:spPr>
        <p:txBody>
          <a:bodyPr wrap="square" lIns="45720" rIns="45720" anchor="t">
            <a:spAutoFit/>
          </a:bodyPr>
          <a:lstStyle/>
          <a:p>
            <a:pPr>
              <a:spcAft>
                <a:spcPts val="0"/>
              </a:spcAft>
            </a:pPr>
            <a:r>
              <a:rPr sz="1400" b="1">
                <a:solidFill>
                  <a:srgbClr val="F5F5F5"/>
                </a:solidFill>
                <a:latin typeface="Aptos"/>
              </a:rPr>
              <a:t>A cleaned, well-structured catalogue makes Netflix's content mix easier to explore. The next step is to connect metadata patterns to audience and business performance before making high-impact decisions.</a:t>
            </a:r>
          </a:p>
        </p:txBody>
      </p:sp>
      <p:sp>
        <p:nvSpPr>
          <p:cNvPr id="22" name="TextBox 21"/>
          <p:cNvSpPr txBox="1"/>
          <p:nvPr/>
        </p:nvSpPr>
        <p:spPr>
          <a:xfrm>
            <a:off x="502920" y="6537960"/>
            <a:ext cx="7772400" cy="164592"/>
          </a:xfrm>
          <a:prstGeom prst="rect">
            <a:avLst/>
          </a:prstGeom>
          <a:noFill/>
        </p:spPr>
        <p:txBody>
          <a:bodyPr wrap="square" lIns="45720" rIns="45720" anchor="t">
            <a:spAutoFit/>
          </a:bodyPr>
          <a:lstStyle/>
          <a:p>
            <a:pPr>
              <a:spcAft>
                <a:spcPts val="0"/>
              </a:spcAft>
            </a:pPr>
            <a:r>
              <a:rPr sz="800" b="0">
                <a:solidFill>
                  <a:srgbClr val="B8B8B8"/>
                </a:solidFill>
                <a:latin typeface="Aptos"/>
              </a:rPr>
              <a:t>ACADEMIC PROJECT  |  Dataset: netflix_titles.csv</a:t>
            </a:r>
          </a:p>
        </p:txBody>
      </p:sp>
      <p:sp>
        <p:nvSpPr>
          <p:cNvPr id="23" name="TextBox 22"/>
          <p:cNvSpPr txBox="1"/>
          <p:nvPr/>
        </p:nvSpPr>
        <p:spPr>
          <a:xfrm>
            <a:off x="10881360" y="6519672"/>
            <a:ext cx="777240" cy="201168"/>
          </a:xfrm>
          <a:prstGeom prst="rect">
            <a:avLst/>
          </a:prstGeom>
          <a:noFill/>
        </p:spPr>
        <p:txBody>
          <a:bodyPr wrap="square" lIns="45720" rIns="45720" anchor="t">
            <a:spAutoFit/>
          </a:bodyPr>
          <a:lstStyle/>
          <a:p>
            <a:pPr algn="r">
              <a:spcAft>
                <a:spcPts val="0"/>
              </a:spcAft>
            </a:pPr>
            <a:r>
              <a:rPr sz="900" b="1">
                <a:solidFill>
                  <a:srgbClr val="B8B8B8"/>
                </a:solidFill>
                <a:latin typeface="Aptos"/>
              </a:rPr>
              <a:t>07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98323" y="-152400"/>
            <a:ext cx="12290323" cy="7010400"/>
          </a:xfrm>
          <a:prstGeom prst="rect">
            <a:avLst/>
          </a:prstGeom>
          <a:solidFill>
            <a:srgbClr val="262626"/>
          </a:solidFill>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lang="en-IN" sz="8000" b="1" dirty="0" smtClean="0">
                <a:solidFill>
                  <a:srgbClr val="F5F5F5"/>
                </a:solidFill>
                <a:latin typeface="Aptos"/>
              </a:rPr>
              <a:t>Thank You!</a:t>
            </a:r>
            <a:endParaRPr lang="en-IN" b="1" dirty="0">
              <a:solidFill>
                <a:srgbClr val="F5F5F5"/>
              </a:solidFill>
              <a:latin typeface="Aptos"/>
            </a:endParaRPr>
          </a:p>
        </p:txBody>
      </p:sp>
    </p:spTree>
    <p:extLst>
      <p:ext uri="{BB962C8B-B14F-4D97-AF65-F5344CB8AC3E}">
        <p14:creationId xmlns:p14="http://schemas.microsoft.com/office/powerpoint/2010/main" val="3456645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1008</Words>
  <Application>Microsoft Office PowerPoint</Application>
  <PresentationFormat>Widescreen</PresentationFormat>
  <Paragraphs>175</Paragraphs>
  <Slides>8</Slides>
  <Notes>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Neel Soni</dc:creator>
  <cp:keywords/>
  <dc:description>generated using python-pptx</dc:description>
  <cp:lastModifiedBy>Neel Soni</cp:lastModifiedBy>
  <cp:revision>8</cp:revision>
  <dcterms:created xsi:type="dcterms:W3CDTF">2013-01-27T09:14:16Z</dcterms:created>
  <dcterms:modified xsi:type="dcterms:W3CDTF">2026-10-12T10:31:06Z</dcterms:modified>
  <cp:category/>
</cp:coreProperties>
</file>